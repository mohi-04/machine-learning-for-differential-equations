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83" r:id="rId4"/>
  </p:sldMasterIdLst>
  <p:notesMasterIdLst>
    <p:notesMasterId r:id="rId37"/>
  </p:notesMasterIdLst>
  <p:handoutMasterIdLst>
    <p:handoutMasterId r:id="rId38"/>
  </p:handoutMasterIdLst>
  <p:sldIdLst>
    <p:sldId id="325" r:id="rId5"/>
    <p:sldId id="371" r:id="rId6"/>
    <p:sldId id="412" r:id="rId7"/>
    <p:sldId id="413" r:id="rId8"/>
    <p:sldId id="379" r:id="rId9"/>
    <p:sldId id="380" r:id="rId10"/>
    <p:sldId id="388" r:id="rId11"/>
    <p:sldId id="416" r:id="rId12"/>
    <p:sldId id="383" r:id="rId13"/>
    <p:sldId id="384" r:id="rId14"/>
    <p:sldId id="389" r:id="rId15"/>
    <p:sldId id="390" r:id="rId16"/>
    <p:sldId id="406" r:id="rId17"/>
    <p:sldId id="391" r:id="rId18"/>
    <p:sldId id="353" r:id="rId19"/>
    <p:sldId id="354" r:id="rId20"/>
    <p:sldId id="404" r:id="rId21"/>
    <p:sldId id="367" r:id="rId22"/>
    <p:sldId id="369" r:id="rId23"/>
    <p:sldId id="372" r:id="rId24"/>
    <p:sldId id="414" r:id="rId25"/>
    <p:sldId id="397" r:id="rId26"/>
    <p:sldId id="398" r:id="rId27"/>
    <p:sldId id="399" r:id="rId28"/>
    <p:sldId id="403" r:id="rId29"/>
    <p:sldId id="400" r:id="rId30"/>
    <p:sldId id="410" r:id="rId31"/>
    <p:sldId id="402" r:id="rId32"/>
    <p:sldId id="411" r:id="rId33"/>
    <p:sldId id="415" r:id="rId34"/>
    <p:sldId id="407" r:id="rId35"/>
    <p:sldId id="405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FAED006-CEBD-4C30-BFE2-A4DE40708475}">
          <p14:sldIdLst>
            <p14:sldId id="325"/>
            <p14:sldId id="371"/>
            <p14:sldId id="412"/>
            <p14:sldId id="413"/>
            <p14:sldId id="379"/>
            <p14:sldId id="380"/>
            <p14:sldId id="388"/>
            <p14:sldId id="416"/>
            <p14:sldId id="383"/>
            <p14:sldId id="384"/>
            <p14:sldId id="389"/>
            <p14:sldId id="390"/>
            <p14:sldId id="406"/>
            <p14:sldId id="391"/>
            <p14:sldId id="353"/>
            <p14:sldId id="354"/>
            <p14:sldId id="404"/>
            <p14:sldId id="367"/>
            <p14:sldId id="369"/>
            <p14:sldId id="372"/>
            <p14:sldId id="414"/>
            <p14:sldId id="397"/>
            <p14:sldId id="398"/>
            <p14:sldId id="399"/>
            <p14:sldId id="403"/>
            <p14:sldId id="400"/>
            <p14:sldId id="410"/>
            <p14:sldId id="402"/>
            <p14:sldId id="411"/>
            <p14:sldId id="415"/>
            <p14:sldId id="407"/>
            <p14:sldId id="40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7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05" autoAdjust="0"/>
    <p:restoredTop sz="84666" autoAdjust="0"/>
  </p:normalViewPr>
  <p:slideViewPr>
    <p:cSldViewPr snapToGrid="0">
      <p:cViewPr varScale="1">
        <p:scale>
          <a:sx n="45" d="100"/>
          <a:sy n="45" d="100"/>
        </p:scale>
        <p:origin x="58" y="787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06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4B9809-3C73-CA2B-1791-620EA168CC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7B1C58-A1FD-D1E1-33AB-1303C48435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B67DB-EC82-4F3E-9767-0DD6D77CF8F2}" type="datetime1">
              <a:rPr lang="en-IN" smtClean="0"/>
              <a:t>08-05-2026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7A0D9-659F-DDC6-CBD8-29B61E0FF7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ML for Physicists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E0617-6128-05F5-8F48-6A0A1D1479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A24AC-02A6-46A1-A072-EAC8AC25DC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91982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B04250-53F6-4C48-A071-83B83C0DE782}" type="datetime1">
              <a:rPr lang="en-IN" smtClean="0"/>
              <a:t>08-05-2026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ML for Physicists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92804-03A6-47F6-A893-4DDB8903A8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17359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F4B43-5901-2196-5CB7-65B00E5EBC3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ML for Physicists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D00D0-A0D7-7994-16CE-27F2C2499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FD9FE9-49B5-6EAE-8E06-08EDE943F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41385B-C83D-CBA6-F214-FA4917E24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EA0C47-041D-F860-35C3-02E289369BB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ML for Physicists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442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4FBE4-A2D3-CF77-2DCF-38644858E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5DDC4A-8A75-5FEB-2F41-3EEC1885D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541F38-3882-6C7D-FC74-A6959896E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this, we get:</a:t>
            </a:r>
          </a:p>
          <a:p>
            <a:r>
              <a:rPr lang="en-US" dirty="0"/>
              <a:t>Legendre functions </a:t>
            </a:r>
          </a:p>
          <a:p>
            <a:r>
              <a:rPr lang="en-US" dirty="0"/>
              <a:t>Bessel functions </a:t>
            </a:r>
          </a:p>
          <a:p>
            <a:r>
              <a:rPr lang="en-US" dirty="0"/>
              <a:t>Hermite polynomials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6BD710-BBE8-40C2-6706-A112B683632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ML for Physicists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771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Neural networks approximate unknown solutions directly when analytical methods become difficult.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2E3E68-26AF-368D-7DCB-5450CFA3B36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ML for Physicists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355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dirty="0"/>
                  <a:t>For example –</a:t>
                </a:r>
              </a:p>
              <a:p>
                <a:r>
                  <a:rPr lang="en-US" sz="1200" dirty="0"/>
                  <a:t>Solution – 1: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       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200" dirty="0"/>
              </a:p>
              <a:p>
                <a:r>
                  <a:rPr lang="en-US" sz="1200" dirty="0"/>
                  <a:t>Solution – 2: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  <a:p>
                <a:r>
                  <a:rPr lang="en-US" sz="1200" dirty="0"/>
                  <a:t>These produce two independent solutions. 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sz="1200" i="1" dirty="0">
                    <a:latin typeface="Cambria Math" panose="02040503050406030204" pitchFamily="18" charset="0"/>
                  </a:rPr>
                  <a:t> </a:t>
                </a:r>
                <a:r>
                  <a:rPr lang="en-IN" sz="12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dirty="0"/>
                  <a:t>For example –</a:t>
                </a:r>
              </a:p>
              <a:p>
                <a:r>
                  <a:rPr lang="en-US" sz="1200" dirty="0"/>
                  <a:t>Solution – 1:</a:t>
                </a:r>
              </a:p>
              <a:p>
                <a:pPr/>
                <a:r>
                  <a:rPr lang="en-US" sz="1200" b="0" i="0">
                    <a:latin typeface="Cambria Math" panose="02040503050406030204" pitchFamily="18" charset="0"/>
                  </a:rPr>
                  <a:t>𝑦(0)=1, 〖        𝑦〗^′ (0)=0</a:t>
                </a:r>
                <a:endParaRPr lang="en-US" sz="1200" dirty="0"/>
              </a:p>
              <a:p>
                <a:r>
                  <a:rPr lang="en-US" sz="1200" dirty="0"/>
                  <a:t>Solution – 2:</a:t>
                </a:r>
              </a:p>
              <a:p>
                <a:pPr/>
                <a:r>
                  <a:rPr lang="en-US" sz="1200" b="0" i="0">
                    <a:latin typeface="Cambria Math" panose="02040503050406030204" pitchFamily="18" charset="0"/>
                  </a:rPr>
                  <a:t>𝑦(0)=0,  𝑦^′ (0)=1</a:t>
                </a:r>
                <a:endParaRPr lang="en-US" sz="1200" dirty="0"/>
              </a:p>
              <a:p>
                <a:r>
                  <a:rPr lang="en-US" sz="1200" dirty="0"/>
                  <a:t>These produce two independent solutions. – </a:t>
                </a:r>
                <a:r>
                  <a:rPr lang="en-US" sz="1200" i="0">
                    <a:latin typeface="Cambria Math" panose="02040503050406030204" pitchFamily="18" charset="0"/>
                  </a:rPr>
                  <a:t>𝑦_1 (𝑥)</a:t>
                </a:r>
                <a:r>
                  <a:rPr lang="en-IN" sz="1200" i="1" dirty="0">
                    <a:latin typeface="Cambria Math" panose="02040503050406030204" pitchFamily="18" charset="0"/>
                  </a:rPr>
                  <a:t> </a:t>
                </a:r>
                <a:r>
                  <a:rPr lang="en-IN" sz="1200" dirty="0"/>
                  <a:t>and </a:t>
                </a:r>
                <a:r>
                  <a:rPr lang="en-US" sz="1200" i="0">
                    <a:latin typeface="Cambria Math" panose="02040503050406030204" pitchFamily="18" charset="0"/>
                  </a:rPr>
                  <a:t>𝑦_2 (𝑥)</a:t>
                </a:r>
                <a:r>
                  <a:rPr lang="en-US" sz="1200" dirty="0"/>
                  <a:t>.</a:t>
                </a:r>
              </a:p>
              <a:p>
                <a:endParaRPr lang="en-IN" dirty="0"/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ML for Physicists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896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1F871-AAED-20F9-689F-FF1F21438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EDDBBA-6953-E85A-A328-4D7A82CA4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739C62C-18F9-33D8-8002-C080C4E2AAE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dirty="0"/>
                  <a:t>For example –</a:t>
                </a:r>
              </a:p>
              <a:p>
                <a:r>
                  <a:rPr lang="en-US" sz="1200" dirty="0"/>
                  <a:t>Solution – 1: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       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200" dirty="0"/>
              </a:p>
              <a:p>
                <a:r>
                  <a:rPr lang="en-US" sz="1200" dirty="0"/>
                  <a:t>Solution – 2: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  <a:p>
                <a:r>
                  <a:rPr lang="en-US" sz="1200" dirty="0"/>
                  <a:t>These produce two independent solutions. 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sz="1200" i="1" dirty="0">
                    <a:latin typeface="Cambria Math" panose="02040503050406030204" pitchFamily="18" charset="0"/>
                  </a:rPr>
                  <a:t> </a:t>
                </a:r>
                <a:r>
                  <a:rPr lang="en-IN" sz="12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739C62C-18F9-33D8-8002-C080C4E2AAE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dirty="0"/>
                  <a:t>For example –</a:t>
                </a:r>
              </a:p>
              <a:p>
                <a:r>
                  <a:rPr lang="en-US" sz="1200" dirty="0"/>
                  <a:t>Solution – 1:</a:t>
                </a:r>
              </a:p>
              <a:p>
                <a:pPr/>
                <a:r>
                  <a:rPr lang="en-US" sz="1200" b="0" i="0">
                    <a:latin typeface="Cambria Math" panose="02040503050406030204" pitchFamily="18" charset="0"/>
                  </a:rPr>
                  <a:t>𝑦(0)=1, 〖        𝑦〗^′ (0)=0</a:t>
                </a:r>
                <a:endParaRPr lang="en-US" sz="1200" dirty="0"/>
              </a:p>
              <a:p>
                <a:r>
                  <a:rPr lang="en-US" sz="1200" dirty="0"/>
                  <a:t>Solution – 2:</a:t>
                </a:r>
              </a:p>
              <a:p>
                <a:pPr/>
                <a:r>
                  <a:rPr lang="en-US" sz="1200" b="0" i="0">
                    <a:latin typeface="Cambria Math" panose="02040503050406030204" pitchFamily="18" charset="0"/>
                  </a:rPr>
                  <a:t>𝑦(0)=0,  𝑦^′ (0)=1</a:t>
                </a:r>
                <a:endParaRPr lang="en-US" sz="1200" dirty="0"/>
              </a:p>
              <a:p>
                <a:r>
                  <a:rPr lang="en-US" sz="1200" dirty="0"/>
                  <a:t>These produce two independent solutions. – </a:t>
                </a:r>
                <a:r>
                  <a:rPr lang="en-US" sz="1200" i="0">
                    <a:latin typeface="Cambria Math" panose="02040503050406030204" pitchFamily="18" charset="0"/>
                  </a:rPr>
                  <a:t>𝑦_1 (𝑥)</a:t>
                </a:r>
                <a:r>
                  <a:rPr lang="en-IN" sz="1200" i="1" dirty="0">
                    <a:latin typeface="Cambria Math" panose="02040503050406030204" pitchFamily="18" charset="0"/>
                  </a:rPr>
                  <a:t> </a:t>
                </a:r>
                <a:r>
                  <a:rPr lang="en-IN" sz="1200" dirty="0"/>
                  <a:t>and </a:t>
                </a:r>
                <a:r>
                  <a:rPr lang="en-US" sz="1200" i="0">
                    <a:latin typeface="Cambria Math" panose="02040503050406030204" pitchFamily="18" charset="0"/>
                  </a:rPr>
                  <a:t>𝑦_2 (𝑥)</a:t>
                </a:r>
                <a:r>
                  <a:rPr lang="en-US" sz="1200" dirty="0"/>
                  <a:t>.</a:t>
                </a:r>
              </a:p>
              <a:p>
                <a:endParaRPr lang="en-IN" dirty="0"/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562B2D-7EC0-E1D1-F0BD-609A0D2DEC6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ML for Physicists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03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5E71F-3B30-F178-2B15-36873BA18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162C88-C589-E03B-D065-C1BBBF2E0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2266A8-B8A9-6090-35B5-038BD2F33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9A2A90-8F04-9093-AE15-9ECAD671E6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ML for Physicists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817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PINN solution closely matches the analytical wavefunction, validating physics-based learning.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490FE-E385-788E-2B42-C49F1161BD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ML for Physicists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698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1200" dirty="0">
                    <a:solidFill>
                      <a:schemeClr val="tx2"/>
                    </a:solidFill>
                  </a:rPr>
                  <a:t>A neural network </a:t>
                </a:r>
                <a:r>
                  <a:rPr lang="en-US" altLang="en-US" sz="1200" b="1" dirty="0">
                    <a:solidFill>
                      <a:schemeClr val="tx2"/>
                    </a:solidFill>
                  </a:rPr>
                  <a:t>does not usually give a clean analytical formula</a:t>
                </a:r>
                <a:r>
                  <a:rPr lang="en-US" altLang="en-US" sz="1200" dirty="0">
                    <a:solidFill>
                      <a:schemeClr val="tx2"/>
                    </a:solidFill>
                  </a:rPr>
                  <a:t> like traditional math methods.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1200" dirty="0">
                    <a:solidFill>
                      <a:schemeClr val="tx2"/>
                    </a:solidFill>
                  </a:rPr>
                  <a:t>For any input </a:t>
                </a:r>
                <a14:m>
                  <m:oMath xmlns:m="http://schemas.openxmlformats.org/officeDocument/2006/math">
                    <m:r>
                      <a:rPr lang="en-US" altLang="en-US" sz="12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sz="1200" dirty="0">
                    <a:solidFill>
                      <a:schemeClr val="tx2"/>
                    </a:solidFill>
                  </a:rPr>
                  <a:t>, it produces a numerical value of the solution.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IN" sz="1200" dirty="0">
                  <a:solidFill>
                    <a:schemeClr val="tx2"/>
                  </a:solidFill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sz="1200" dirty="0">
                    <a:solidFill>
                      <a:schemeClr val="tx2"/>
                    </a:solidFill>
                  </a:rPr>
                  <a:t>Using these data points (outputs of the network), we can reconstruct/ approximate the function – this can be done using: 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1200" dirty="0">
                    <a:solidFill>
                      <a:schemeClr val="tx2"/>
                    </a:solidFill>
                  </a:rPr>
                  <a:t>A neural network </a:t>
                </a:r>
                <a:r>
                  <a:rPr lang="en-US" altLang="en-US" sz="1200" b="1" dirty="0">
                    <a:solidFill>
                      <a:schemeClr val="tx2"/>
                    </a:solidFill>
                  </a:rPr>
                  <a:t>does not usually give a clean analytical formula</a:t>
                </a:r>
                <a:r>
                  <a:rPr lang="en-US" altLang="en-US" sz="1200" dirty="0">
                    <a:solidFill>
                      <a:schemeClr val="tx2"/>
                    </a:solidFill>
                  </a:rPr>
                  <a:t> like traditional math methods.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1200" dirty="0">
                    <a:solidFill>
                      <a:schemeClr val="tx2"/>
                    </a:solidFill>
                  </a:rPr>
                  <a:t>For any input </a:t>
                </a:r>
                <a:r>
                  <a:rPr lang="en-US" altLang="en-US" sz="1200" b="0" i="0">
                    <a:solidFill>
                      <a:schemeClr val="tx2"/>
                    </a:solidFill>
                    <a:latin typeface="Cambria Math" panose="02040503050406030204" pitchFamily="18" charset="0"/>
                  </a:rPr>
                  <a:t>𝑥</a:t>
                </a:r>
                <a:r>
                  <a:rPr lang="en-US" altLang="en-US" sz="1200" dirty="0">
                    <a:solidFill>
                      <a:schemeClr val="tx2"/>
                    </a:solidFill>
                  </a:rPr>
                  <a:t>, it produces a numerical value of the solution.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IN" sz="1200" dirty="0">
                  <a:solidFill>
                    <a:schemeClr val="tx2"/>
                  </a:solidFill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sz="1200" dirty="0">
                    <a:solidFill>
                      <a:schemeClr val="tx2"/>
                    </a:solidFill>
                  </a:rPr>
                  <a:t>Using these data points (outputs of the network), we can reconstruct/ approximate the function – this can be done using: </a:t>
                </a:r>
              </a:p>
              <a:p>
                <a:endParaRPr lang="en-IN" dirty="0"/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FC8DE1-10DC-1D6A-9D61-55664706F88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ML for Physicists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621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Used to analyze time-dependent system dynamics.</a:t>
                </a:r>
              </a:p>
              <a:p>
                <a:pPr marL="5715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mass 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5715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dirty="0"/>
                  <a:t> damping coefficient – measure the resistance or friction in the system</a:t>
                </a:r>
              </a:p>
              <a:p>
                <a:pPr marL="5715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dirty="0"/>
                  <a:t> spring constant – measures stiffness of the spring</a:t>
                </a:r>
              </a:p>
              <a:p>
                <a:pPr marL="5715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𝜻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damping ratio – how quickly the oscillations die out</a:t>
                </a:r>
                <a:endParaRPr lang="en-IN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Used to analyze time-dependent system dynamics.</a:t>
                </a:r>
              </a:p>
              <a:p>
                <a:pPr marL="571500" lvl="0" indent="-342900">
                  <a:buFont typeface="Arial" panose="020B0604020202020204" pitchFamily="34" charset="0"/>
                  <a:buChar char="•"/>
                </a:pPr>
                <a:r>
                  <a:rPr lang="en-US" b="1" i="0">
                    <a:latin typeface="Cambria Math" panose="02040503050406030204" pitchFamily="18" charset="0"/>
                  </a:rPr>
                  <a:t>𝒎:</a:t>
                </a:r>
                <a:r>
                  <a:rPr lang="en-IN" b="1" dirty="0"/>
                  <a:t> </a:t>
                </a:r>
                <a:r>
                  <a:rPr lang="en-IN" dirty="0"/>
                  <a:t>mass 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571500" lvl="0" indent="-342900">
                  <a:buFont typeface="Arial" panose="020B0604020202020204" pitchFamily="34" charset="0"/>
                  <a:buChar char="•"/>
                </a:pPr>
                <a:r>
                  <a:rPr lang="en-US" b="1" i="0">
                    <a:latin typeface="Cambria Math" panose="02040503050406030204" pitchFamily="18" charset="0"/>
                  </a:rPr>
                  <a:t>𝒄:</a:t>
                </a:r>
                <a:r>
                  <a:rPr lang="en-IN" dirty="0"/>
                  <a:t> damping coefficient – measure the resistance or friction in the system</a:t>
                </a:r>
              </a:p>
              <a:p>
                <a:pPr marL="571500" lvl="0" indent="-342900">
                  <a:buFont typeface="Arial" panose="020B0604020202020204" pitchFamily="34" charset="0"/>
                  <a:buChar char="•"/>
                </a:pPr>
                <a:r>
                  <a:rPr lang="en-US" b="1" i="0">
                    <a:latin typeface="Cambria Math" panose="02040503050406030204" pitchFamily="18" charset="0"/>
                  </a:rPr>
                  <a:t>𝒌:</a:t>
                </a:r>
                <a:r>
                  <a:rPr lang="en-IN" dirty="0"/>
                  <a:t> spring constant – measures stiffness of the spring</a:t>
                </a:r>
              </a:p>
              <a:p>
                <a:pPr marL="571500" lvl="0" indent="-342900">
                  <a:buFont typeface="Arial" panose="020B0604020202020204" pitchFamily="34" charset="0"/>
                  <a:buChar char="•"/>
                </a:pPr>
                <a:r>
                  <a:rPr lang="en-US" b="1" i="0">
                    <a:latin typeface="Cambria Math" panose="02040503050406030204" pitchFamily="18" charset="0"/>
                  </a:rPr>
                  <a:t>𝜻:</a:t>
                </a:r>
                <a:r>
                  <a:rPr lang="en-IN" b="1" dirty="0"/>
                  <a:t> </a:t>
                </a:r>
                <a:r>
                  <a:rPr lang="en-IN" dirty="0"/>
                  <a:t>damping ratio – how quickly the oscillations die out</a:t>
                </a:r>
                <a:endParaRPr lang="en-IN" b="1" dirty="0"/>
              </a:p>
              <a:p>
                <a:endParaRPr lang="en-IN" dirty="0"/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F4A24-C002-84D5-B76E-D1EDE85D282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ML for Physicists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0769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82575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Governing equation is not satisfied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A9B1D-621E-DA83-F1BF-CC9D2A92364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ML for Physicists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7119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Why no data is needed</a:t>
            </a:r>
          </a:p>
          <a:p>
            <a:r>
              <a:rPr lang="en-US" dirty="0"/>
              <a:t>Because:</a:t>
            </a:r>
          </a:p>
          <a:p>
            <a:r>
              <a:rPr lang="en-US" dirty="0"/>
              <a:t>Physics already tells: </a:t>
            </a:r>
          </a:p>
          <a:p>
            <a:pPr lvl="1"/>
            <a:r>
              <a:rPr lang="en-US" dirty="0"/>
              <a:t>how the system should behave </a:t>
            </a:r>
          </a:p>
          <a:p>
            <a:pPr lvl="1"/>
            <a:r>
              <a:rPr lang="en-US" dirty="0"/>
              <a:t>everywhere, not just few points </a:t>
            </a:r>
          </a:p>
          <a:p>
            <a:r>
              <a:rPr lang="en-US" dirty="0"/>
              <a:t>👉 So data becomes optional</a:t>
            </a:r>
          </a:p>
          <a:p>
            <a:r>
              <a:rPr lang="en-US" dirty="0"/>
              <a:t>Ex – motion of a ball under free fall - If I tell you gravity and initial position, you can predict motion without any data. PINNs do the same thing.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0E649-22B6-4964-E6F1-616D759BC9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ML for Physicists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463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b="1" dirty="0"/>
                  <a:t>why r² term?”</a:t>
                </a:r>
                <a:endParaRPr lang="en-IN" dirty="0"/>
              </a:p>
              <a:p>
                <a:r>
                  <a:rPr lang="en-IN" dirty="0"/>
                  <a:t>“Because heat flows through spherical surfaces whose area increases as </a:t>
                </a:r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4𝜋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𝑟^2</a:t>
                </a:r>
                <a:r>
                  <a:rPr lang="ar-AE" dirty="0"/>
                  <a:t>, </a:t>
                </a:r>
                <a:r>
                  <a:rPr lang="en-IN" dirty="0"/>
                  <a:t>so geometry introduces the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𝑟^2</a:t>
                </a:r>
                <a:r>
                  <a:rPr lang="en-IN" dirty="0"/>
                  <a:t>factor.”</a:t>
                </a:r>
              </a:p>
              <a:p>
                <a:endParaRPr lang="en-IN" dirty="0"/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15C7A1-99D7-8C59-1232-DB79EC3EBA7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ML for Physicists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0349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sz="1200" dirty="0"/>
                  <a:t>In 3D gravity, there are gravitational waves – so no black holes should exist.</a:t>
                </a:r>
              </a:p>
              <a:p>
                <a:endParaRPr lang="en-IN" sz="1200" dirty="0"/>
              </a:p>
              <a:p>
                <a:r>
                  <a:rPr lang="en-IN" sz="1200" dirty="0"/>
                  <a:t>But if negative cosmological constant,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200" b="0" i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12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IN" sz="1200" dirty="0"/>
                  <a:t> (Anti – de Sitter space) → a black hole solution appears. </a:t>
                </a:r>
              </a:p>
              <a:p>
                <a:endParaRPr lang="en-IN" b="0" i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IN" b="0" dirty="0"/>
                  <a:t> </a:t>
                </a:r>
                <a:r>
                  <a:rPr lang="en-IN" b="0" dirty="0">
                    <a:sym typeface="Symbol" panose="05050102010706020507" pitchFamily="18" charset="2"/>
                  </a:rPr>
                  <a:t> s</a:t>
                </a:r>
                <a:r>
                  <a:rPr lang="en-US" dirty="0"/>
                  <a:t>pace </a:t>
                </a:r>
                <a:r>
                  <a:rPr lang="en-US" b="1" dirty="0"/>
                  <a:t>pulls inward</a:t>
                </a:r>
                <a:r>
                  <a:rPr lang="en-US" dirty="0"/>
                  <a:t> – like a </a:t>
                </a:r>
                <a:r>
                  <a:rPr lang="en-US" b="1" dirty="0"/>
                  <a:t>confining force</a:t>
                </a:r>
                <a:r>
                  <a:rPr lang="en-US" dirty="0"/>
                  <a:t> – geometry becomes </a:t>
                </a:r>
                <a:r>
                  <a:rPr lang="en-US" b="1" dirty="0"/>
                  <a:t>curved inward</a:t>
                </a:r>
                <a:endParaRPr lang="en-IN" b="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b="0" i="0">
                    <a:latin typeface="Cambria Math" panose="02040503050406030204" pitchFamily="18" charset="0"/>
                  </a:rPr>
                  <a:t>Λ&lt;0</a:t>
                </a:r>
                <a:r>
                  <a:rPr lang="en-IN" b="0" dirty="0"/>
                  <a:t> </a:t>
                </a:r>
                <a:r>
                  <a:rPr lang="en-IN" b="0" dirty="0">
                    <a:sym typeface="Symbol" panose="05050102010706020507" pitchFamily="18" charset="2"/>
                  </a:rPr>
                  <a:t> s</a:t>
                </a:r>
                <a:r>
                  <a:rPr lang="en-US" dirty="0"/>
                  <a:t>pace </a:t>
                </a:r>
                <a:r>
                  <a:rPr lang="en-US" b="1" dirty="0"/>
                  <a:t>pulls inward</a:t>
                </a:r>
                <a:r>
                  <a:rPr lang="en-US" dirty="0"/>
                  <a:t> – like a </a:t>
                </a:r>
                <a:r>
                  <a:rPr lang="en-US" b="1" dirty="0"/>
                  <a:t>confining force</a:t>
                </a:r>
                <a:r>
                  <a:rPr lang="en-US" dirty="0"/>
                  <a:t> – geometry becomes </a:t>
                </a:r>
                <a:r>
                  <a:rPr lang="en-US" b="1" dirty="0"/>
                  <a:t>curved inward</a:t>
                </a:r>
                <a:endParaRPr lang="en-IN" b="0" dirty="0"/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67E2CA-CD86-7536-E945-E2D6B11EB5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ML for Physicists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5385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“BTZ was a validation problem because exact solutions exist.</a:t>
            </a:r>
            <a:br>
              <a:rPr lang="en-US" dirty="0"/>
            </a:br>
            <a:r>
              <a:rPr lang="en-US" dirty="0"/>
              <a:t>The bigger motivation is extending this to 5D </a:t>
            </a:r>
            <a:r>
              <a:rPr lang="en-US" dirty="0" err="1"/>
              <a:t>AdS</a:t>
            </a:r>
            <a:r>
              <a:rPr lang="en-US" dirty="0"/>
              <a:t> black holes, where analytical methods become very difficult and people mostly use numerical approaches. PINNs may help bridge that gap.”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ML for Physicists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475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0472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472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6538D75-00C2-DE73-4C65-FE94AC65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7B0D6-0F4A-40AD-89D1-BAC410D732FC}" type="datetime1">
              <a:rPr lang="en-IN" smtClean="0"/>
              <a:t>08-05-2026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B601B81-68C1-B63A-105C-EC637DF5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9F3E495-0415-392A-9A07-34555BBC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427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825625"/>
            <a:ext cx="10515600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283F1-9090-4252-9DBA-5538A756A526}" type="datetime1">
              <a:rPr lang="en-IN" smtClean="0"/>
              <a:t>08-05-2026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127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B034DD9-4A61-318F-88CF-79721B55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CAB92-F389-4344-BF76-D1CE91BA0560}" type="datetime1">
              <a:rPr lang="en-IN" smtClean="0"/>
              <a:t>08-05-2026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496DA99-E916-9F7C-9E88-AA06046A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CC86B5-B6B3-4633-0D90-AACB44D0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24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8F7F10-35F6-E392-D41B-3CD300D5CCF8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181600" cy="42063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>
              <a:buChar char="¬"/>
            </a:pPr>
            <a:r>
              <a:rPr lang="en-US"/>
              <a:t>Click to edit Master text styles</a:t>
            </a:r>
          </a:p>
          <a:p>
            <a:pPr lvl="1">
              <a:buChar char="¬"/>
            </a:pPr>
            <a:r>
              <a:rPr lang="en-US"/>
              <a:t>Second level</a:t>
            </a:r>
          </a:p>
          <a:p>
            <a:pPr lvl="2">
              <a:buChar char="¬"/>
            </a:pPr>
            <a:r>
              <a:rPr lang="en-US"/>
              <a:t>Third level</a:t>
            </a:r>
          </a:p>
          <a:p>
            <a:pPr lvl="3">
              <a:buChar char="¬"/>
            </a:pPr>
            <a:r>
              <a:rPr lang="en-US"/>
              <a:t>Fourth level</a:t>
            </a:r>
          </a:p>
          <a:p>
            <a:pPr lvl="4">
              <a:buChar char="¬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6178" y="1825625"/>
            <a:ext cx="518004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274CEC-210E-BC97-9B79-A7D801E4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09A34-1E79-4AA9-9209-558E2FDE11FA}" type="datetime1">
              <a:rPr lang="en-IN" smtClean="0"/>
              <a:t>08-05-2026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6B3D53-F805-C08E-2359-498218FC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1C4695B-D7BD-45F7-EB23-6FDAF241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612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A1F52B7-5271-53AA-8260-0CF50FF8DA3C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365125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1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178" y="2505075"/>
            <a:ext cx="515778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5459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4590" y="2505075"/>
            <a:ext cx="5183188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F9433-910A-4FD4-9203-A48B34341124}" type="datetime1">
              <a:rPr lang="en-IN" smtClean="0"/>
              <a:t>08-05-2026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465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9328E63-E075-39E2-BAA7-30CCAE2E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B0DCE-13C7-4619-8CDA-5CE7AC25B826}" type="datetime1">
              <a:rPr lang="en-IN" smtClean="0"/>
              <a:t>08-05-2026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894A5-0E01-F43E-C68A-2EFAB2EB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250128C-CE40-2B40-1B89-7E9AAAAC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502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281B99-C6A0-F92A-BDD3-BB362196501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8367C-67E1-A50A-1584-F859A6FED9C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B8861-51D7-741E-6B2C-25412D40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A753E-E665-43B5-AF26-60CC5EA9DEC9}" type="datetime1">
              <a:rPr lang="en-IN" smtClean="0"/>
              <a:t>08-05-2026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69A2F-0657-B33B-8334-C458A953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4FC84-48ED-0480-2497-FCD84C12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314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12425" cy="1600200"/>
          </a:xfrm>
        </p:spPr>
        <p:txBody>
          <a:bodyPr anchor="b">
            <a:normAutofit/>
          </a:bodyPr>
          <a:lstStyle>
            <a:lvl1pPr>
              <a:defRPr sz="5200">
                <a:latin typeface="Dante (Headings)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830" y="2199340"/>
            <a:ext cx="6172200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F37370-7C05-0AAE-A0C3-9EE620A8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03926-4206-4925-B7BC-2E555FB327D7}" type="datetime1">
              <a:rPr lang="en-IN" smtClean="0"/>
              <a:t>08-05-2026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00B8E3-39E6-A88A-BBFB-717596EB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8E340D-1840-D987-3EEA-963BDDE3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50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3932237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1276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F28E44-58BB-553B-BBD0-F292C66C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431FB-FB83-4554-9334-230660CB1634}" type="datetime1">
              <a:rPr lang="en-IN" smtClean="0"/>
              <a:t>08-05-2026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F22D156-E5FE-F118-0553-B401F196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AEE0A6-6120-9BA2-5751-E0E2D8CF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9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68C47-2910-B99C-EC67-F6649ADC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F46F1-7B16-4A40-BCB6-230C45097305}" type="datetime1">
              <a:rPr lang="en-IN" smtClean="0"/>
              <a:t>08-05-2026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19515-4A04-FBE0-E89C-86ECBB7E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9C272-2490-C827-9BE5-9CEE4185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054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2613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43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F68BE-C313-C839-B719-0339AC34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1D980-DBC2-4224-B16F-42DD7B71A711}" type="datetime1">
              <a:rPr lang="en-IN" smtClean="0"/>
              <a:t>08-05-2026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F4E5F-FFF4-F934-3DD9-134F8D24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E0F82-88EB-FAE2-FC02-99D5EE30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207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F7D84AA-0BCE-9C85-4510-34EBAE061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524" y="708955"/>
            <a:ext cx="12193526" cy="5463893"/>
            <a:chOff x="-1524" y="708955"/>
            <a:chExt cx="12193526" cy="546389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41002A6-9DB7-26A1-2425-8C496B953CA4}"/>
                </a:ext>
              </a:extLst>
            </p:cNvPr>
            <p:cNvSpPr/>
            <p:nvPr userDrawn="1"/>
          </p:nvSpPr>
          <p:spPr>
            <a:xfrm>
              <a:off x="-1524" y="709613"/>
              <a:ext cx="12192000" cy="5463235"/>
            </a:xfrm>
            <a:prstGeom prst="rect">
              <a:avLst/>
            </a:prstGeom>
            <a:solidFill>
              <a:schemeClr val="accent3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9F029623-B14D-1CDC-9D8F-47D563937B5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43670" t="-7182" r="-9886" b="52046"/>
            <a:stretch/>
          </p:blipFill>
          <p:spPr>
            <a:xfrm>
              <a:off x="-1" y="1162050"/>
              <a:ext cx="5568949" cy="5009032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B4D8031F-ED2A-8D7E-D369-6BF3256FE3F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256" t="-7183" r="44925" b="48899"/>
            <a:stretch/>
          </p:blipFill>
          <p:spPr>
            <a:xfrm rot="16200000">
              <a:off x="7239292" y="366674"/>
              <a:ext cx="4610430" cy="5294991"/>
            </a:xfrm>
            <a:prstGeom prst="rect">
              <a:avLst/>
            </a:prstGeom>
          </p:spPr>
        </p:pic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28D3FB-54EA-410D-A062-8F118E5D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93477A-1279-4BCC-8257-14CC2361F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7F04C86-E215-DFBB-8302-70BCCDFC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708956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29577F-647F-5850-5636-6ED05B995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9482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CBFB4F-DC16-FC59-E9E7-B92910449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6429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690604-E7DB-AFA3-7E13-CAFF46FF5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7968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E2874C2-BA39-4778-DC11-487CC4FCA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6D6334D-FB4A-4843-F2FB-1CAC50021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8695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FC043C06-5053-E291-E708-44B684DC5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932" y="1115167"/>
            <a:ext cx="8534136" cy="4655385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68248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F9E0CFE-F27B-4D50-AA2F-7146CA90E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" y="2138289"/>
            <a:ext cx="12188952" cy="4033912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C488A36-B0CB-7B46-C2A6-BA57D39EC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7860" r="37853" b="27738"/>
          <a:stretch/>
        </p:blipFill>
        <p:spPr>
          <a:xfrm>
            <a:off x="6962087" y="2143124"/>
            <a:ext cx="5226865" cy="403383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A8614BA2-9387-F1B5-B7DB-B34DAE90FE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7" y="365125"/>
            <a:ext cx="10778937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994EC89-4FAE-445C-A6E8-D55E4A34DE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2899" y="2350108"/>
            <a:ext cx="10778221" cy="3609461"/>
          </a:xfrm>
        </p:spPr>
        <p:txBody>
          <a:bodyPr anchor="ctr" anchorCtr="0">
            <a:normAutofit/>
          </a:bodyPr>
          <a:lstStyle>
            <a:lvl1pPr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ECF93F-3E86-4C44-BAF1-ADE160CAD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A80DA6A-71F3-6286-F60A-EEEC91887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F98B46-5DFC-3487-EB05-148905CA6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138288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768F8E-3DFF-8D92-E3CF-5AE5F6DA5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045761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83A1EA-5EE3-D81A-D135-860F481F6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64727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EA58FF-2FB1-3B78-FDCF-E5DC2EFE5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326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2EA47A-F66B-4005-A5A4-458E90C096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2"/>
            <a:ext cx="5646541" cy="5295371"/>
          </a:xfrm>
        </p:spPr>
        <p:txBody>
          <a:bodyPr anchor="ctr" anchorCtr="0">
            <a:normAutofit/>
          </a:bodyPr>
          <a:lstStyle>
            <a:lvl1pPr>
              <a:defRPr sz="4400"/>
            </a:lvl1pPr>
          </a:lstStyle>
          <a:p>
            <a:pPr algn="l">
              <a:lnSpc>
                <a:spcPts val="5800"/>
              </a:lnSpc>
            </a:pPr>
            <a:r>
              <a:rPr lang="en-US" sz="4800" dirty="0"/>
              <a:t>Click to add title 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6379D45C-F78A-E101-CD9D-C98EA6E6C5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95" y="-1"/>
            <a:ext cx="5013087" cy="6857998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768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2EA47A-F66B-4005-A5A4-458E90C096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3"/>
            <a:ext cx="5646541" cy="3304494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pPr algn="l">
              <a:lnSpc>
                <a:spcPts val="5800"/>
              </a:lnSpc>
            </a:pPr>
            <a:r>
              <a:rPr lang="en-US" sz="4800" dirty="0"/>
              <a:t>Click to add title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415B1A-CA14-E219-0C7F-0B38B1684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83096" y="1"/>
            <a:ext cx="5013088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BA35BB-6689-91C0-7D75-944092B3C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1949B5-8206-3159-8E9E-E95F2A9AA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483096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97BFBC-DA17-6BEB-A937-333E9504D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363569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F9A5C70-EFC4-1BAB-285F-B317FAF474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275" y="4148138"/>
            <a:ext cx="5673726" cy="15287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073F905-5A3E-F9EB-B095-7A3A17C1E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2249" t="13424" r="28018" b="11087"/>
          <a:stretch/>
        </p:blipFill>
        <p:spPr>
          <a:xfrm>
            <a:off x="6472427" y="0"/>
            <a:ext cx="50237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01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77B93E-437F-D9D6-D3D1-6DE5F025A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44200" y="1"/>
            <a:ext cx="75198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74AAE1C-171A-32A3-E6FD-75252CAB8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1796" t="12194" r="49125" b="12256"/>
          <a:stretch/>
        </p:blipFill>
        <p:spPr>
          <a:xfrm>
            <a:off x="10732660" y="-5609"/>
            <a:ext cx="763524" cy="686360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581E4B7-6D97-63BF-7E87-5E71F8BD8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8" y="365125"/>
            <a:ext cx="9733538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630934-DBD2-4535-961F-B198ABA2D05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6" y="2198915"/>
            <a:ext cx="9741183" cy="3345316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 baseline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20D2A6-7700-487F-AC7E-A5A2C30DC1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C30D6A-6415-42E1-89E9-EF806C3FE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05DBF26-BAB3-D5FD-5EA7-310263D4C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940584B-2A03-52F7-B667-9CD1A2BD7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3C0872-DC48-53B1-8569-7A913D92D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074420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35D700-0F05-E0E7-FB42-2FC890C26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063077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5C00B3F-62BE-8535-5239-46279DF1B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052457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5414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7AE2FB-B934-16AA-2537-04016B7F1A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3"/>
            <a:ext cx="5646541" cy="3304494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pPr algn="l">
              <a:lnSpc>
                <a:spcPts val="5800"/>
              </a:lnSpc>
            </a:pPr>
            <a:r>
              <a:rPr lang="en-US" sz="4800" dirty="0"/>
              <a:t>Click to add title 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B5241927-0828-2C0E-290E-E82A357BC8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275" y="4148138"/>
            <a:ext cx="5673726" cy="15287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6379D45C-F78A-E101-CD9D-C98EA6E6C5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95" y="-1"/>
            <a:ext cx="5013087" cy="6857998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4F6DF6-2D97-1E21-15A5-D0E9397E2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1406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B53B4F-080C-8523-03AD-871CC3B8D168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 descr="Tag=AccentColor&#10;Flavor=Light&#10;Target=Line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 descr="Tag=AccentColor&#10;Flavor=Light&#10;Target=Line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8177A415-94FA-4B0B-9222-8BECF741ACF4}" type="datetime1">
              <a:rPr lang="en-IN" smtClean="0"/>
              <a:t>08-05-2026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28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5" r:id="rId12"/>
    <p:sldLayoutId id="2147483896" r:id="rId13"/>
    <p:sldLayoutId id="2147483897" r:id="rId14"/>
    <p:sldLayoutId id="2147483898" r:id="rId15"/>
    <p:sldLayoutId id="2147483899" r:id="rId16"/>
    <p:sldLayoutId id="2147483900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microsoft.com/office/2007/relationships/hdphoto" Target="../media/hdphoto2.wdp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2107B0-826E-4E2E-390A-A0CBF1F86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" y="593032"/>
            <a:ext cx="10789920" cy="2353368"/>
          </a:xfrm>
        </p:spPr>
        <p:txBody>
          <a:bodyPr/>
          <a:lstStyle/>
          <a:p>
            <a:r>
              <a:rPr lang="en-US" sz="8800" dirty="0">
                <a:solidFill>
                  <a:srgbClr val="002060"/>
                </a:solidFill>
              </a:rPr>
              <a:t>CP301</a:t>
            </a:r>
            <a:br>
              <a:rPr lang="en-US" sz="8800" dirty="0"/>
            </a:br>
            <a:r>
              <a:rPr lang="en-US" sz="4400" dirty="0"/>
              <a:t>Development Engineering Project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D3499F-A7CF-72B1-C6F5-838263806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793434"/>
            <a:ext cx="1310640" cy="144170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85FE56F4-2FF4-B284-4EF5-8AC93742DFBF}"/>
              </a:ext>
            </a:extLst>
          </p:cNvPr>
          <p:cNvGrpSpPr/>
          <p:nvPr/>
        </p:nvGrpSpPr>
        <p:grpSpPr>
          <a:xfrm>
            <a:off x="1075689" y="4780224"/>
            <a:ext cx="10040622" cy="1077218"/>
            <a:chOff x="1177290" y="4602480"/>
            <a:chExt cx="10040622" cy="107721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41364C6-3028-ACA0-5476-8AA36F9250D2}"/>
                </a:ext>
              </a:extLst>
            </p:cNvPr>
            <p:cNvSpPr txBox="1"/>
            <p:nvPr/>
          </p:nvSpPr>
          <p:spPr>
            <a:xfrm>
              <a:off x="1177290" y="4602480"/>
              <a:ext cx="3538352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tx2"/>
                  </a:solidFill>
                  <a:latin typeface="+mj-lt"/>
                  <a:ea typeface="+mj-ea"/>
                  <a:cs typeface="+mj-cs"/>
                </a:rPr>
                <a:t>Mohi Modi</a:t>
              </a:r>
              <a:br>
                <a:rPr lang="en-US" sz="3200" dirty="0">
                  <a:solidFill>
                    <a:schemeClr val="tx2"/>
                  </a:solidFill>
                  <a:latin typeface="+mj-lt"/>
                  <a:ea typeface="+mj-ea"/>
                  <a:cs typeface="+mj-cs"/>
                </a:rPr>
              </a:br>
              <a:r>
                <a:rPr lang="en-US" sz="3200" dirty="0">
                  <a:solidFill>
                    <a:schemeClr val="tx2"/>
                  </a:solidFill>
                  <a:latin typeface="+mj-lt"/>
                  <a:ea typeface="+mj-ea"/>
                  <a:cs typeface="+mj-cs"/>
                </a:rPr>
                <a:t>2023EPB1273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1BBC018-5125-2BE4-D9BF-53156B20C7E6}"/>
                </a:ext>
              </a:extLst>
            </p:cNvPr>
            <p:cNvSpPr txBox="1"/>
            <p:nvPr/>
          </p:nvSpPr>
          <p:spPr>
            <a:xfrm>
              <a:off x="5995672" y="4602480"/>
              <a:ext cx="522224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200" dirty="0">
                  <a:solidFill>
                    <a:schemeClr val="tx2"/>
                  </a:solidFill>
                  <a:latin typeface="+mj-lt"/>
                  <a:ea typeface="+mj-ea"/>
                  <a:cs typeface="+mj-cs"/>
                </a:rPr>
                <a:t>Supervisor – </a:t>
              </a:r>
            </a:p>
            <a:p>
              <a:r>
                <a:rPr lang="en-IN" sz="3200" dirty="0">
                  <a:solidFill>
                    <a:schemeClr val="tx2"/>
                  </a:solidFill>
                  <a:latin typeface="+mj-lt"/>
                  <a:ea typeface="+mj-ea"/>
                  <a:cs typeface="+mj-cs"/>
                </a:rPr>
                <a:t>Dr. </a:t>
              </a:r>
              <a:r>
                <a:rPr lang="en-IN" sz="3200" dirty="0" err="1">
                  <a:solidFill>
                    <a:schemeClr val="tx2"/>
                  </a:solidFill>
                  <a:latin typeface="+mj-lt"/>
                  <a:ea typeface="+mj-ea"/>
                  <a:cs typeface="+mj-cs"/>
                </a:rPr>
                <a:t>Shankhadeep</a:t>
              </a:r>
              <a:r>
                <a:rPr lang="en-IN" sz="3200" dirty="0">
                  <a:solidFill>
                    <a:schemeClr val="tx2"/>
                  </a:solidFill>
                  <a:latin typeface="+mj-lt"/>
                  <a:ea typeface="+mj-ea"/>
                  <a:cs typeface="+mj-cs"/>
                </a:rPr>
                <a:t> </a:t>
              </a:r>
              <a:r>
                <a:rPr lang="en-IN" sz="3200" dirty="0" err="1">
                  <a:solidFill>
                    <a:schemeClr val="tx2"/>
                  </a:solidFill>
                  <a:latin typeface="+mj-lt"/>
                  <a:ea typeface="+mj-ea"/>
                  <a:cs typeface="+mj-cs"/>
                </a:rPr>
                <a:t>Chakrabortty</a:t>
              </a:r>
              <a:endParaRPr lang="en-IN" sz="3200" dirty="0">
                <a:solidFill>
                  <a:schemeClr val="tx2"/>
                </a:solidFill>
                <a:latin typeface="+mj-lt"/>
                <a:ea typeface="+mj-ea"/>
                <a:cs typeface="+mj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87CCA58-C8DA-EFEF-27D9-4F059148DF3F}"/>
              </a:ext>
            </a:extLst>
          </p:cNvPr>
          <p:cNvSpPr txBox="1"/>
          <p:nvPr/>
        </p:nvSpPr>
        <p:spPr>
          <a:xfrm>
            <a:off x="3896360" y="3218955"/>
            <a:ext cx="4399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accent2">
                    <a:lumMod val="50000"/>
                  </a:schemeClr>
                </a:solidFill>
                <a:latin typeface="Britannic Bold" panose="020B0903060703020204" pitchFamily="34" charset="0"/>
                <a:ea typeface="+mj-ea"/>
                <a:cs typeface="+mj-cs"/>
              </a:rPr>
              <a:t>ML for Physicists</a:t>
            </a:r>
          </a:p>
        </p:txBody>
      </p:sp>
    </p:spTree>
    <p:extLst>
      <p:ext uri="{BB962C8B-B14F-4D97-AF65-F5344CB8AC3E}">
        <p14:creationId xmlns:p14="http://schemas.microsoft.com/office/powerpoint/2010/main" val="3885810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70574-6E3C-DB1B-4AC1-61F594ACE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DE09C-271E-15AA-F818-E24FF2BA1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168" y="598805"/>
            <a:ext cx="9655668" cy="1325563"/>
          </a:xfrm>
        </p:spPr>
        <p:txBody>
          <a:bodyPr/>
          <a:lstStyle/>
          <a:p>
            <a:r>
              <a:rPr lang="en-US" sz="5400" b="1" dirty="0">
                <a:solidFill>
                  <a:schemeClr val="accent3"/>
                </a:solidFill>
              </a:rPr>
              <a:t>INDEX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1C70FA-EEEB-6499-6A5F-D9B68655D42B}"/>
              </a:ext>
            </a:extLst>
          </p:cNvPr>
          <p:cNvSpPr txBox="1"/>
          <p:nvPr/>
        </p:nvSpPr>
        <p:spPr>
          <a:xfrm>
            <a:off x="6374002" y="2247374"/>
            <a:ext cx="5029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Damped Harmonic Oscillator</a:t>
            </a:r>
          </a:p>
          <a:p>
            <a:pPr marL="342900" indent="-342900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Trained v/s Untrained Data </a:t>
            </a:r>
          </a:p>
          <a:p>
            <a:pPr marL="342900" indent="-342900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2"/>
                </a:solidFill>
              </a:rPr>
              <a:t>Role of Data in PINNs</a:t>
            </a:r>
          </a:p>
          <a:p>
            <a:pPr marL="342900" indent="-342900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2"/>
                </a:solidFill>
              </a:rPr>
              <a:t>Singular Differential Equations</a:t>
            </a:r>
          </a:p>
          <a:p>
            <a:pPr marL="342900" indent="-342900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IN" sz="2400" dirty="0"/>
              <a:t>Hyper-Geometric Equations</a:t>
            </a:r>
          </a:p>
          <a:p>
            <a:pPr marL="342900" indent="-342900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IN" sz="2400" dirty="0"/>
              <a:t>Hypergeometric Equations Across Physics</a:t>
            </a:r>
            <a:endParaRPr lang="en-US" sz="2400" dirty="0"/>
          </a:p>
          <a:p>
            <a:pPr marL="342900" indent="-342900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2"/>
                </a:solidFill>
              </a:rPr>
              <a:t>BTZ Black Hole Equation</a:t>
            </a:r>
          </a:p>
          <a:p>
            <a:pPr marL="342900" indent="-342900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2"/>
                </a:solidFill>
              </a:rPr>
              <a:t>Future Scope</a:t>
            </a:r>
          </a:p>
          <a:p>
            <a:pPr marL="342900" indent="-342900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2"/>
                </a:solidFill>
              </a:rPr>
              <a:t>Conclusion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82F782-B9D7-4086-8C7E-3AE3F18B7A21}"/>
              </a:ext>
            </a:extLst>
          </p:cNvPr>
          <p:cNvCxnSpPr>
            <a:cxnSpLocks/>
          </p:cNvCxnSpPr>
          <p:nvPr/>
        </p:nvCxnSpPr>
        <p:spPr>
          <a:xfrm>
            <a:off x="6096000" y="2204720"/>
            <a:ext cx="0" cy="3870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3B1E8B9-9D01-AB3F-F483-F7BA6B6F1E28}"/>
              </a:ext>
            </a:extLst>
          </p:cNvPr>
          <p:cNvSpPr txBox="1"/>
          <p:nvPr/>
        </p:nvSpPr>
        <p:spPr>
          <a:xfrm>
            <a:off x="326136" y="2432040"/>
            <a:ext cx="56753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Motivation</a:t>
            </a:r>
          </a:p>
          <a:p>
            <a:pPr marL="342900" indent="-342900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Objective</a:t>
            </a:r>
          </a:p>
          <a:p>
            <a:pPr marL="342900" indent="-342900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Second Order Linear Differential Equation</a:t>
            </a:r>
          </a:p>
          <a:p>
            <a:pPr marL="342900" indent="-342900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Neural Network for Differential Equations</a:t>
            </a:r>
          </a:p>
          <a:p>
            <a:pPr marL="342900" indent="-342900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IN" sz="2400" dirty="0"/>
              <a:t>Neural Network Learning Framework</a:t>
            </a:r>
            <a:endParaRPr lang="en-US" sz="2400" dirty="0"/>
          </a:p>
          <a:p>
            <a:pPr marL="342900" indent="-342900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Quantum Harmonic Oscillator</a:t>
            </a:r>
          </a:p>
          <a:p>
            <a:pPr marL="342900" indent="-342900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Numerical method for QHO</a:t>
            </a:r>
          </a:p>
          <a:p>
            <a:pPr marL="342900" indent="-342900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PINN formulation for QHO</a:t>
            </a:r>
          </a:p>
          <a:p>
            <a:pPr marL="342900" indent="-342900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PINN v/s Analytical Solution</a:t>
            </a:r>
          </a:p>
        </p:txBody>
      </p:sp>
      <p:sp>
        <p:nvSpPr>
          <p:cNvPr id="9" name="Date Placeholder 1">
            <a:extLst>
              <a:ext uri="{FF2B5EF4-FFF2-40B4-BE49-F238E27FC236}">
                <a16:creationId xmlns:a16="http://schemas.microsoft.com/office/drawing/2014/main" id="{B63642C8-1A93-EF8D-D4B9-ED044B57BB41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98EC755-638E-154B-6472-AD7AE8767230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2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30154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0835B-08FA-097A-8BF7-C244A5C83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dirty="0"/>
              <a:t>Mathematical description of physical systems are governed by differential equations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dirty="0"/>
              <a:t>Analytical solutions are often limited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dirty="0"/>
              <a:t>Numerical methods may become computationally expensive or unstable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dirty="0"/>
              <a:t>Machine learning offers an alternative framework to achieve approximated analytical form of solution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dirty="0"/>
              <a:t>We apply these methods from simple physical systems to black hole physics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565734E-0C99-769A-1C6C-561F06520E35}"/>
              </a:ext>
            </a:extLst>
          </p:cNvPr>
          <p:cNvSpPr txBox="1">
            <a:spLocks/>
          </p:cNvSpPr>
          <p:nvPr/>
        </p:nvSpPr>
        <p:spPr>
          <a:xfrm>
            <a:off x="1546168" y="598805"/>
            <a:ext cx="965566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accent3"/>
                </a:solidFill>
              </a:rPr>
              <a:t>MOTIVATION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146F07-04FA-8355-DC4D-EE3535FA5B18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7E1B40-0E26-4832-EF11-06A3F4C63213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3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99606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90D4483-1C8C-5D18-0857-E6901DADD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168" y="598805"/>
            <a:ext cx="9655668" cy="1325563"/>
          </a:xfrm>
        </p:spPr>
        <p:txBody>
          <a:bodyPr/>
          <a:lstStyle/>
          <a:p>
            <a:r>
              <a:rPr lang="en-US" sz="5400" b="1" dirty="0">
                <a:solidFill>
                  <a:schemeClr val="accent3"/>
                </a:solidFill>
              </a:rPr>
              <a:t>OBJECTIVE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97B3F90-62B7-13AE-EDEE-F90435FE26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7499" y="2435298"/>
            <a:ext cx="9277003" cy="3439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fontAlgn="base"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dirty="0"/>
              <a:t>Apply machine learning techniques to solve physical differential equations </a:t>
            </a:r>
          </a:p>
          <a:p>
            <a:pPr marL="342900" marR="0" lvl="0" indent="-342900" fontAlgn="base"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dirty="0"/>
              <a:t>Compare neural network solutions with analytical and numerical methods </a:t>
            </a:r>
          </a:p>
          <a:p>
            <a:pPr marL="342900" marR="0" lvl="0" indent="-342900" fontAlgn="base"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dirty="0"/>
              <a:t>Study how training and residual minimization improve physical accuracy </a:t>
            </a:r>
          </a:p>
          <a:p>
            <a:pPr marL="342900" marR="0" lvl="0" indent="-342900" fontAlgn="base"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dirty="0"/>
              <a:t>Extend machine learning methods to singular differential equations </a:t>
            </a:r>
          </a:p>
          <a:p>
            <a:pPr marL="342900" marR="0" lvl="0" indent="-342900" fontAlgn="base"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dirty="0"/>
              <a:t>Apply the framework to the BTZ black hole wave equation and analyze boundary behavior 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367822DC-437A-6D73-9069-134AC83EAB72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F6F452E-C5D9-0FBE-9F53-509DFC4E3AE9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4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77688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6BEDA-4B4A-43B2-2520-6443A60BE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EA75F-1862-99D2-EF62-DB53356B43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3787" y="124506"/>
            <a:ext cx="4703157" cy="3304494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Second Order Linear Differential Equation</a:t>
            </a:r>
            <a:br>
              <a:rPr lang="en-US" b="1" dirty="0">
                <a:solidFill>
                  <a:schemeClr val="accent3"/>
                </a:solidFill>
              </a:rPr>
            </a:br>
            <a:r>
              <a:rPr lang="en-US" b="1" dirty="0">
                <a:solidFill>
                  <a:schemeClr val="accent3"/>
                </a:solidFill>
              </a:rPr>
              <a:t>(S.O.L.D.E.) </a:t>
            </a:r>
            <a:endParaRPr lang="en-IN" b="1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Subtitle 5">
                <a:extLst>
                  <a:ext uri="{FF2B5EF4-FFF2-40B4-BE49-F238E27FC236}">
                    <a16:creationId xmlns:a16="http://schemas.microsoft.com/office/drawing/2014/main" id="{977F8360-2CB1-1B98-A08F-EEB8D86BDE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2197" y="4202729"/>
                <a:ext cx="4594747" cy="1528762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Wingdings 2" panose="05020102010507070707" pitchFamily="18" charset="2"/>
                  <a:buNone/>
                  <a:defRPr sz="2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"/>
                  <a:defRPr sz="2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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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"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dirty="0"/>
                  <a:t>A general second order differential equation has the form – </a:t>
                </a:r>
              </a:p>
              <a:p>
                <a:endParaRPr lang="en-IN" sz="1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sSup>
                        <m:sSupPr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𝒒</m:t>
                      </m:r>
                      <m:d>
                        <m:dPr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200" b="1" dirty="0"/>
              </a:p>
              <a:p>
                <a:endParaRPr lang="en-IN" sz="2200" dirty="0"/>
              </a:p>
            </p:txBody>
          </p:sp>
        </mc:Choice>
        <mc:Fallback xmlns="">
          <p:sp>
            <p:nvSpPr>
              <p:cNvPr id="8" name="Subtitle 5">
                <a:extLst>
                  <a:ext uri="{FF2B5EF4-FFF2-40B4-BE49-F238E27FC236}">
                    <a16:creationId xmlns:a16="http://schemas.microsoft.com/office/drawing/2014/main" id="{977F8360-2CB1-1B98-A08F-EEB8D86BD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197" y="4202729"/>
                <a:ext cx="4594747" cy="1528762"/>
              </a:xfrm>
              <a:prstGeom prst="rect">
                <a:avLst/>
              </a:prstGeom>
              <a:blipFill>
                <a:blip r:embed="rId3"/>
                <a:stretch>
                  <a:fillRect l="-2122" t="-11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A4C27D-C174-1E19-F4BC-D337B67E21FD}"/>
                  </a:ext>
                </a:extLst>
              </p:cNvPr>
              <p:cNvSpPr txBox="1"/>
              <p:nvPr/>
            </p:nvSpPr>
            <p:spPr>
              <a:xfrm>
                <a:off x="6717792" y="2080938"/>
                <a:ext cx="4785360" cy="26961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>
                    <a:solidFill>
                      <a:schemeClr val="tx2"/>
                    </a:solidFill>
                  </a:rPr>
                  <a:t>The general solution is given as –</a:t>
                </a:r>
              </a:p>
              <a:p>
                <a:endParaRPr lang="en-IN" sz="100" dirty="0">
                  <a:solidFill>
                    <a:schemeClr val="tx2"/>
                  </a:solidFill>
                </a:endParaRPr>
              </a:p>
              <a:p>
                <a:pPr>
                  <a:lnSpc>
                    <a:spcPct val="110000"/>
                  </a:lnSpc>
                  <a:spcBef>
                    <a:spcPts val="1000"/>
                  </a:spcBef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en-US" sz="22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2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2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sz="22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2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2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US" sz="22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200" b="1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r>
                  <a:rPr lang="en-IN" sz="2400" dirty="0">
                    <a:solidFill>
                      <a:schemeClr val="tx2"/>
                    </a:solidFill>
                  </a:rPr>
                  <a:t>where,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sz="2200" i="1" dirty="0">
                    <a:solidFill>
                      <a:schemeClr val="tx2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tx2"/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200" i="1" dirty="0">
                    <a:solidFill>
                      <a:schemeClr val="tx2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tx2"/>
                    </a:solidFill>
                  </a:rPr>
                  <a:t>→ two independent solutions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tx2"/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tx2"/>
                    </a:solidFill>
                  </a:rPr>
                  <a:t>→ constant determined by boundary /initial conditions.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A4C27D-C174-1E19-F4BC-D337B67E2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7792" y="2080938"/>
                <a:ext cx="4785360" cy="2696123"/>
              </a:xfrm>
              <a:prstGeom prst="rect">
                <a:avLst/>
              </a:prstGeom>
              <a:blipFill>
                <a:blip r:embed="rId4"/>
                <a:stretch>
                  <a:fillRect l="-1911" t="-1806" b="-40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34078F79-5503-FF1E-D650-A15256401F52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7FAC0ED-1D6D-CEF2-CC00-F39D1A629E06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5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09887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4">
            <a:extLst>
              <a:ext uri="{FF2B5EF4-FFF2-40B4-BE49-F238E27FC236}">
                <a16:creationId xmlns:a16="http://schemas.microsoft.com/office/drawing/2014/main" id="{53493961-B93B-6BD4-A23D-EB9DDFB18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7" y="700558"/>
            <a:ext cx="10155716" cy="768319"/>
          </a:xfrm>
        </p:spPr>
        <p:txBody>
          <a:bodyPr>
            <a:noAutofit/>
          </a:bodyPr>
          <a:lstStyle/>
          <a:p>
            <a:pPr algn="ctr"/>
            <a:r>
              <a:rPr lang="en-US" sz="4000" b="1" u="sng" dirty="0">
                <a:solidFill>
                  <a:schemeClr val="accent3"/>
                </a:solidFill>
              </a:rPr>
              <a:t>Neural Network for Differential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Subtitle 2">
                <a:extLst>
                  <a:ext uri="{FF2B5EF4-FFF2-40B4-BE49-F238E27FC236}">
                    <a16:creationId xmlns:a16="http://schemas.microsoft.com/office/drawing/2014/main" id="{EA93FFDD-6BC4-A1D5-C18C-F9DA761063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107" y="1949539"/>
                <a:ext cx="5399802" cy="4019321"/>
              </a:xfrm>
            </p:spPr>
            <p:txBody>
              <a:bodyPr>
                <a:noAutofit/>
              </a:bodyPr>
              <a:lstStyle/>
              <a:p>
                <a:r>
                  <a:rPr lang="en-US" sz="23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A Neural Network (N.N.) learns a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3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3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Input →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3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3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Output → predicted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3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2300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Using automatic differentiation, we compute the derivatives –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3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300" b="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Subtitle 2">
                <a:extLst>
                  <a:ext uri="{FF2B5EF4-FFF2-40B4-BE49-F238E27FC236}">
                    <a16:creationId xmlns:a16="http://schemas.microsoft.com/office/drawing/2014/main" id="{EA93FFDD-6BC4-A1D5-C18C-F9DA761063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107" y="1949539"/>
                <a:ext cx="5399802" cy="4019321"/>
              </a:xfrm>
              <a:blipFill>
                <a:blip r:embed="rId3"/>
                <a:stretch>
                  <a:fillRect l="-1693" t="-12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Subtitle 2">
                <a:extLst>
                  <a:ext uri="{FF2B5EF4-FFF2-40B4-BE49-F238E27FC236}">
                    <a16:creationId xmlns:a16="http://schemas.microsoft.com/office/drawing/2014/main" id="{070318C7-5425-2ABC-A0A8-48786480AD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927205"/>
                <a:ext cx="4645595" cy="42302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Wingdings 2" panose="05020102010507070707" pitchFamily="18" charset="2"/>
                  <a:buNone/>
                  <a:defRPr sz="2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"/>
                  <a:defRPr sz="2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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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"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300" dirty="0"/>
                  <a:t>Then, a residual function is generated –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300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300" b="0" i="1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en-US" sz="2300" b="0" i="1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2300" b="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300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300" b="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300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300" b="0" i="1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300" b="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300" dirty="0"/>
              </a:p>
              <a:p>
                <a:r>
                  <a:rPr lang="en-US" sz="2300" dirty="0"/>
                  <a:t>A loss function is built to train the model –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                  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3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IN" sz="2300"/>
                            <m:t>⟨</m:t>
                          </m:r>
                          <m:r>
                            <m:rPr>
                              <m:nor/>
                            </m:rPr>
                            <a:rPr lang="en-US" sz="2300" b="0" i="0" smtClean="0"/>
                            <m:t>R</m:t>
                          </m:r>
                          <m:r>
                            <m:rPr>
                              <m:nor/>
                            </m:rPr>
                            <a:rPr lang="en-US" sz="2300" b="0" i="0" smtClean="0"/>
                            <m:t>(</m:t>
                          </m:r>
                          <m:r>
                            <m:rPr>
                              <m:nor/>
                            </m:rPr>
                            <a:rPr lang="en-US" sz="2300" b="0" i="0" smtClean="0"/>
                            <m:t>x</m:t>
                          </m:r>
                          <m:r>
                            <m:rPr>
                              <m:nor/>
                            </m:rPr>
                            <a:rPr lang="en-US" sz="2300" b="0" i="0" smtClean="0"/>
                            <m:t>)</m:t>
                          </m:r>
                        </m:e>
                        <m:sup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IN" sz="2300"/>
                        <m:t>⟩</m:t>
                      </m:r>
                    </m:oMath>
                    <m:oMath xmlns:m="http://schemas.openxmlformats.org/officeDocument/2006/math">
                      <m:r>
                        <a:rPr lang="en-US" sz="23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 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3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300" b="0" dirty="0"/>
              </a:p>
              <a:p>
                <a:r>
                  <a:rPr lang="en-US" sz="2300" dirty="0"/>
                  <a:t>The N.N. is trained so that this loss becomes zero.</a:t>
                </a:r>
              </a:p>
            </p:txBody>
          </p:sp>
        </mc:Choice>
        <mc:Fallback xmlns="">
          <p:sp>
            <p:nvSpPr>
              <p:cNvPr id="21" name="Subtitle 2">
                <a:extLst>
                  <a:ext uri="{FF2B5EF4-FFF2-40B4-BE49-F238E27FC236}">
                    <a16:creationId xmlns:a16="http://schemas.microsoft.com/office/drawing/2014/main" id="{070318C7-5425-2ABC-A0A8-48786480A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27205"/>
                <a:ext cx="4645595" cy="4230237"/>
              </a:xfrm>
              <a:prstGeom prst="rect">
                <a:avLst/>
              </a:prstGeom>
              <a:blipFill>
                <a:blip r:embed="rId4"/>
                <a:stretch>
                  <a:fillRect l="-1837" t="-5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Date Placeholder 1">
            <a:extLst>
              <a:ext uri="{FF2B5EF4-FFF2-40B4-BE49-F238E27FC236}">
                <a16:creationId xmlns:a16="http://schemas.microsoft.com/office/drawing/2014/main" id="{D06226C8-C807-936A-9A02-9E3B3AF9011A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A099324F-6AFA-6221-4BC3-9F79CFFBD378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6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54285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98691-4558-C1F0-8645-3EF580030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4">
            <a:extLst>
              <a:ext uri="{FF2B5EF4-FFF2-40B4-BE49-F238E27FC236}">
                <a16:creationId xmlns:a16="http://schemas.microsoft.com/office/drawing/2014/main" id="{DBEE605D-9D44-A7E7-FF46-788E4775A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9352" y="1011121"/>
            <a:ext cx="9513296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>
                <a:solidFill>
                  <a:schemeClr val="accent3"/>
                </a:solidFill>
              </a:rPr>
              <a:t>Neural Network Learning Framework</a:t>
            </a:r>
            <a:endParaRPr lang="en-US" b="1" u="sng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ubtitle 2">
                <a:extLst>
                  <a:ext uri="{FF2B5EF4-FFF2-40B4-BE49-F238E27FC236}">
                    <a16:creationId xmlns:a16="http://schemas.microsoft.com/office/drawing/2014/main" id="{244119F0-5DAE-B157-1D6C-CDD3D871488B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1792224" y="2062263"/>
                <a:ext cx="9388920" cy="3913889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A Neural Network (N.N.) usually gives </a:t>
                </a:r>
                <a:r>
                  <a:rPr lang="en-US" b="1" dirty="0"/>
                  <a:t>one solution </a:t>
                </a:r>
                <a:r>
                  <a:rPr lang="en-US" dirty="0"/>
                  <a:t>only 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b="0" dirty="0"/>
                  <a:t>. </a:t>
                </a:r>
              </a:p>
              <a:p>
                <a:r>
                  <a:rPr lang="en-US" dirty="0"/>
                  <a:t>This is </a:t>
                </a:r>
                <a:r>
                  <a:rPr lang="en-US" b="1" dirty="0"/>
                  <a:t>because</a:t>
                </a:r>
                <a:r>
                  <a:rPr lang="en-US" dirty="0"/>
                  <a:t> the network applies operations like 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where,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weights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biases</a:t>
                </a:r>
              </a:p>
              <a:p>
                <a:r>
                  <a:rPr lang="en-US" dirty="0"/>
                  <a:t>So, for a set of weights, the network produces </a:t>
                </a:r>
                <a:r>
                  <a:rPr lang="en-US" b="1" dirty="0"/>
                  <a:t>one output for each input</a:t>
                </a:r>
                <a:r>
                  <a:rPr lang="en-US" dirty="0"/>
                  <a:t>. Thus, the network represents one function.</a:t>
                </a:r>
              </a:p>
            </p:txBody>
          </p:sp>
        </mc:Choice>
        <mc:Fallback xmlns="">
          <p:sp>
            <p:nvSpPr>
              <p:cNvPr id="10" name="Subtitle 2">
                <a:extLst>
                  <a:ext uri="{FF2B5EF4-FFF2-40B4-BE49-F238E27FC236}">
                    <a16:creationId xmlns:a16="http://schemas.microsoft.com/office/drawing/2014/main" id="{244119F0-5DAE-B157-1D6C-CDD3D87148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1792224" y="2062263"/>
                <a:ext cx="9388920" cy="3913889"/>
              </a:xfrm>
              <a:blipFill>
                <a:blip r:embed="rId3"/>
                <a:stretch>
                  <a:fillRect l="-974" t="-4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F4791580-491F-AB2B-ABB9-B9054FE62C02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738D84B-C27A-0762-B27D-B5E43528D370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7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80586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C36B7-74D3-DE73-4D32-0CC1055B7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9A2C9539-68C3-7D4A-D364-D62CF67DD9DB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A22A583-2DD3-3B87-DCCD-C529C22E9EFC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8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755A5C-3077-9A0C-987F-5686671F97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85"/>
          <a:stretch>
            <a:fillRect/>
          </a:stretch>
        </p:blipFill>
        <p:spPr>
          <a:xfrm>
            <a:off x="3038335" y="768489"/>
            <a:ext cx="6896698" cy="3633833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5ACAE040-2EFB-0B56-4D1F-767738127309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1792288" y="4559006"/>
            <a:ext cx="9141601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300" dirty="0"/>
              <a:t>To get two solutions for a S.O.D.E., we must </a:t>
            </a:r>
            <a:r>
              <a:rPr lang="en-US" altLang="en-US" sz="2300" b="1" dirty="0"/>
              <a:t>train the network twice </a:t>
            </a:r>
            <a:r>
              <a:rPr lang="en-US" altLang="en-US" sz="2300" dirty="0"/>
              <a:t>with different conditions.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300" dirty="0"/>
              <a:t>Numerical methods </a:t>
            </a:r>
            <a:r>
              <a:rPr lang="en-US" altLang="en-US" sz="2300" b="1" dirty="0"/>
              <a:t>apply ICs/BCs directly</a:t>
            </a:r>
            <a:r>
              <a:rPr lang="en-US" altLang="en-US" sz="2300" dirty="0"/>
              <a:t>; while PINNs enforce them through </a:t>
            </a:r>
            <a:r>
              <a:rPr lang="en-US" altLang="en-US" sz="2300" b="1" dirty="0"/>
              <a:t>loss minimization during training</a:t>
            </a:r>
            <a:r>
              <a:rPr lang="en-US" altLang="en-US" sz="23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91229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D5D4B-E921-48FD-8BD4-8A075DAB8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96BB62D4-F7B3-E57D-22B3-B84F0F1ED4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7165" y="879203"/>
            <a:ext cx="4581873" cy="254979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Quantum </a:t>
            </a:r>
            <a:br>
              <a:rPr lang="en-US" b="1" dirty="0">
                <a:solidFill>
                  <a:schemeClr val="accent3"/>
                </a:solidFill>
              </a:rPr>
            </a:br>
            <a:r>
              <a:rPr lang="en-US" b="1" dirty="0">
                <a:solidFill>
                  <a:schemeClr val="accent3"/>
                </a:solidFill>
              </a:rPr>
              <a:t>Harmonic </a:t>
            </a:r>
            <a:br>
              <a:rPr lang="en-US" b="1" dirty="0">
                <a:solidFill>
                  <a:schemeClr val="accent3"/>
                </a:solidFill>
              </a:rPr>
            </a:br>
            <a:r>
              <a:rPr lang="en-US" b="1" dirty="0">
                <a:solidFill>
                  <a:schemeClr val="accent3"/>
                </a:solidFill>
              </a:rPr>
              <a:t>Oscillator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ubtitle 5">
                <a:extLst>
                  <a:ext uri="{FF2B5EF4-FFF2-40B4-BE49-F238E27FC236}">
                    <a16:creationId xmlns:a16="http://schemas.microsoft.com/office/drawing/2014/main" id="{594F5FA8-FBB8-DAD1-E90C-7AB81A8CE2B5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1483361" y="4059237"/>
                <a:ext cx="5201919" cy="1528762"/>
              </a:xfrm>
            </p:spPr>
            <p:txBody>
              <a:bodyPr vert="horz" lIns="91440" tIns="45720" rIns="91440" bIns="45720" rtlCol="0" anchor="t">
                <a:normAutofit fontScale="92500"/>
              </a:bodyPr>
              <a:lstStyle/>
              <a:p>
                <a:r>
                  <a:rPr lang="en-IN" dirty="0"/>
                  <a:t>Consider the time independent QHO equation –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20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20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IN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f>
                        <m:f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IN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I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20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IN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I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N" sz="2200" i="1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20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p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20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200" i="1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20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sz="2200" b="0" dirty="0"/>
              </a:p>
            </p:txBody>
          </p:sp>
        </mc:Choice>
        <mc:Fallback xmlns="">
          <p:sp>
            <p:nvSpPr>
              <p:cNvPr id="10" name="Subtitle 5">
                <a:extLst>
                  <a:ext uri="{FF2B5EF4-FFF2-40B4-BE49-F238E27FC236}">
                    <a16:creationId xmlns:a16="http://schemas.microsoft.com/office/drawing/2014/main" id="{594F5FA8-FBB8-DAD1-E90C-7AB81A8CE2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1483361" y="4059237"/>
                <a:ext cx="5201919" cy="1528762"/>
              </a:xfrm>
              <a:blipFill>
                <a:blip r:embed="rId3"/>
                <a:stretch>
                  <a:fillRect l="-1522" t="-11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F150F4-6611-5A69-1EB0-CC787A61F4DF}"/>
                  </a:ext>
                </a:extLst>
              </p:cNvPr>
              <p:cNvSpPr txBox="1"/>
              <p:nvPr/>
            </p:nvSpPr>
            <p:spPr>
              <a:xfrm>
                <a:off x="6685280" y="1103679"/>
                <a:ext cx="4785360" cy="4671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The exact solution is given as a Hermite Polynomial –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num>
                                <m:den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den>
                              </m:f>
                            </m:e>
                          </m:ra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where,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b="0" dirty="0"/>
                  <a:t> is the normalization constant – </a:t>
                </a:r>
              </a:p>
              <a:p>
                <a:endParaRPr lang="en-IN" sz="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IN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lit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IN" dirty="0"/>
              </a:p>
              <a:p>
                <a:endParaRPr lang="en-IN" sz="1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is the Hermite polynomial –  few are shown below –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8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I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16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I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48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F150F4-6611-5A69-1EB0-CC787A61F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280" y="1103679"/>
                <a:ext cx="4785360" cy="4671663"/>
              </a:xfrm>
              <a:prstGeom prst="rect">
                <a:avLst/>
              </a:prstGeom>
              <a:blipFill>
                <a:blip r:embed="rId4"/>
                <a:stretch>
                  <a:fillRect l="-1146" t="-6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09D3D81D-790F-1164-CC1E-26132F45059C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249FE24-8327-39EA-E9D8-A8CCABF0BEE4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9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70518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4">
            <a:extLst>
              <a:ext uri="{FF2B5EF4-FFF2-40B4-BE49-F238E27FC236}">
                <a16:creationId xmlns:a16="http://schemas.microsoft.com/office/drawing/2014/main" id="{13992723-8291-ECC6-4C50-CDB24BEFA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152" y="256236"/>
            <a:ext cx="10085696" cy="97958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Numerical method to solve a Q.H.O.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C1560FD-485D-5E86-9BE5-69CD01A4F355}"/>
                  </a:ext>
                </a:extLst>
              </p:cNvPr>
              <p:cNvSpPr txBox="1"/>
              <p:nvPr/>
            </p:nvSpPr>
            <p:spPr>
              <a:xfrm>
                <a:off x="483358" y="1856097"/>
                <a:ext cx="5786651" cy="3756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Discretize space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Choose grid points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………,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2000" b="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Spacing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Second derivative is – </a:t>
                </a:r>
              </a:p>
              <a:p>
                <a:pPr marL="457200"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IN" sz="2000">
                              <a:latin typeface="Cambria Math" panose="02040503050406030204" pitchFamily="18" charset="0"/>
                            </a:rPr>
                            <m:t>ψ</m:t>
                          </m:r>
                        </m:num>
                        <m:den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00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b>
                          </m:s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00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00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457200" lvl="2"/>
                <a:endParaRPr lang="en-US" sz="2000" dirty="0"/>
              </a:p>
              <a:p>
                <a:pPr marL="273050" lvl="2" indent="-27305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Substitute into the Schrödinger equation –</a:t>
                </a:r>
              </a:p>
              <a:p>
                <a:pPr marL="457200"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00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b>
                          </m:s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00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00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C1560FD-485D-5E86-9BE5-69CD01A4F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358" y="1856097"/>
                <a:ext cx="5786651" cy="3756028"/>
              </a:xfrm>
              <a:prstGeom prst="rect">
                <a:avLst/>
              </a:prstGeom>
              <a:blipFill>
                <a:blip r:embed="rId2"/>
                <a:stretch>
                  <a:fillRect l="-947" t="-6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0A532F-D9DF-4AD4-E4D3-52B96294BE0D}"/>
                  </a:ext>
                </a:extLst>
              </p:cNvPr>
              <p:cNvSpPr txBox="1"/>
              <p:nvPr/>
            </p:nvSpPr>
            <p:spPr>
              <a:xfrm>
                <a:off x="5732060" y="1856097"/>
                <a:ext cx="5786651" cy="22304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lvl="2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Rearrange – </a:t>
                </a:r>
              </a:p>
              <a:p>
                <a:pPr marL="0"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  <a:p>
                <a:pPr marL="0" lvl="2"/>
                <a:endParaRPr lang="en-IN" sz="2000" dirty="0"/>
              </a:p>
              <a:p>
                <a:pPr marL="0" lvl="2"/>
                <a:r>
                  <a:rPr lang="en-IN" sz="2000" dirty="0"/>
                  <a:t>This becomes a matrix equation – </a:t>
                </a:r>
              </a:p>
              <a:p>
                <a:pPr marL="0" lvl="2"/>
                <a:endParaRPr lang="en-US" sz="1200" b="0" i="1" dirty="0">
                  <a:latin typeface="Cambria Math" panose="02040503050406030204" pitchFamily="18" charset="0"/>
                </a:endParaRPr>
              </a:p>
              <a:p>
                <a:pPr marL="0"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0A532F-D9DF-4AD4-E4D3-52B96294B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060" y="1856097"/>
                <a:ext cx="5786651" cy="2230419"/>
              </a:xfrm>
              <a:prstGeom prst="rect">
                <a:avLst/>
              </a:prstGeom>
              <a:blipFill>
                <a:blip r:embed="rId3"/>
                <a:stretch>
                  <a:fillRect l="-1053" t="-10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8EBF03C-BB06-20B8-1E9F-90C2E21DE71B}"/>
              </a:ext>
            </a:extLst>
          </p:cNvPr>
          <p:cNvSpPr txBox="1"/>
          <p:nvPr/>
        </p:nvSpPr>
        <p:spPr>
          <a:xfrm>
            <a:off x="3042314" y="1112477"/>
            <a:ext cx="6107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solidFill>
                  <a:schemeClr val="tx2"/>
                </a:solidFill>
              </a:rPr>
              <a:t>Finite Difference Approximation</a:t>
            </a: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D57AD45A-EB7D-2EFD-6EF5-FA407976190B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82818AD-9274-A8CD-6E68-C752B89BE86E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10</a:t>
            </a:fld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D64B06-B872-CCE3-A580-6C18B35D37AC}"/>
              </a:ext>
            </a:extLst>
          </p:cNvPr>
          <p:cNvSpPr txBox="1"/>
          <p:nvPr/>
        </p:nvSpPr>
        <p:spPr>
          <a:xfrm>
            <a:off x="5969535" y="4383943"/>
            <a:ext cx="538176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The finite difference method </a:t>
            </a:r>
            <a:r>
              <a:rPr lang="en-US" sz="2000" b="1" dirty="0"/>
              <a:t>converts</a:t>
            </a:r>
            <a:r>
              <a:rPr lang="en-US" sz="2000" dirty="0"/>
              <a:t> the Schrödinger differential equation into a </a:t>
            </a:r>
            <a:r>
              <a:rPr lang="en-US" sz="2000" b="1" dirty="0"/>
              <a:t>matrix eigenvalue problem</a:t>
            </a:r>
            <a:r>
              <a:rPr lang="en-US" sz="2000" dirty="0"/>
              <a:t>. Solving this matrix numerically gives the energy levels and wavefunctions of the Quantum Harmonic Oscillator.</a:t>
            </a:r>
            <a:endParaRPr lang="en-IN" sz="20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60790D-1770-20C5-0B3B-9B40BBBA078F}"/>
              </a:ext>
            </a:extLst>
          </p:cNvPr>
          <p:cNvCxnSpPr>
            <a:cxnSpLocks/>
          </p:cNvCxnSpPr>
          <p:nvPr/>
        </p:nvCxnSpPr>
        <p:spPr>
          <a:xfrm>
            <a:off x="6125901" y="4188696"/>
            <a:ext cx="48963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34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34946-81EF-1E57-CBDD-A6FDA2206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222B3985-8488-5292-0499-D1943B59D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9352" y="689755"/>
            <a:ext cx="9513296" cy="866171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3"/>
                </a:solidFill>
              </a:rPr>
              <a:t>PINN formulation for Q.H.O.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ubtitle 2">
                <a:extLst>
                  <a:ext uri="{FF2B5EF4-FFF2-40B4-BE49-F238E27FC236}">
                    <a16:creationId xmlns:a16="http://schemas.microsoft.com/office/drawing/2014/main" id="{D776BA8C-202A-D1A3-D9C5-F11AD0713730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80775" y="2103553"/>
                <a:ext cx="5251452" cy="3508688"/>
              </a:xfrm>
            </p:spPr>
            <p:txBody>
              <a:bodyPr>
                <a:noAutofit/>
              </a:bodyPr>
              <a:lstStyle/>
              <a:p>
                <a:r>
                  <a:rPr lang="en-US" sz="2200" dirty="0"/>
                  <a:t>The N.N. approximates a solution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200" dirty="0"/>
                  <a:t>Input → </a:t>
                </a:r>
                <a14:m>
                  <m:oMath xmlns:m="http://schemas.openxmlformats.org/officeDocument/2006/math">
                    <m:r>
                      <a:rPr lang="en-IN" sz="2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2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200" dirty="0"/>
                  <a:t>Output → predicted wavefunction</a:t>
                </a:r>
              </a:p>
              <a:p>
                <a:endParaRPr lang="en-IN" sz="2200" dirty="0"/>
              </a:p>
              <a:p>
                <a:r>
                  <a:rPr lang="en-IN" sz="2200" dirty="0"/>
                  <a:t>Using automatic differentiation we compute –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ar-AE" sz="22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ar-AE" sz="22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ar-AE" sz="220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ar-AE" sz="2200" dirty="0"/>
              </a:p>
            </p:txBody>
          </p:sp>
        </mc:Choice>
        <mc:Fallback xmlns="">
          <p:sp>
            <p:nvSpPr>
              <p:cNvPr id="12" name="Subtitle 2">
                <a:extLst>
                  <a:ext uri="{FF2B5EF4-FFF2-40B4-BE49-F238E27FC236}">
                    <a16:creationId xmlns:a16="http://schemas.microsoft.com/office/drawing/2014/main" id="{D776BA8C-202A-D1A3-D9C5-F11AD07137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80775" y="2103553"/>
                <a:ext cx="5251452" cy="3508688"/>
              </a:xfrm>
              <a:blipFill>
                <a:blip r:embed="rId2"/>
                <a:stretch>
                  <a:fillRect l="-1510" t="-521" b="-1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ubtitle 2">
                <a:extLst>
                  <a:ext uri="{FF2B5EF4-FFF2-40B4-BE49-F238E27FC236}">
                    <a16:creationId xmlns:a16="http://schemas.microsoft.com/office/drawing/2014/main" id="{4D5C4205-7A89-5C6B-D1A1-52C0DBDF8B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828800"/>
                <a:ext cx="5415225" cy="42350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Wingdings 2" panose="05020102010507070707" pitchFamily="18" charset="2"/>
                  <a:buNone/>
                  <a:defRPr sz="2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"/>
                  <a:defRPr sz="2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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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"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200" dirty="0"/>
                  <a:t>Residual of the </a:t>
                </a:r>
                <a:r>
                  <a:rPr lang="en-IN" sz="2200" dirty="0"/>
                  <a:t>Schrödinger  equation –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US" sz="2200" b="0" dirty="0"/>
              </a:p>
              <a:p>
                <a:r>
                  <a:rPr lang="en-US" sz="2200" dirty="0"/>
                  <a:t>Loss –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IN" sz="2200" i="1">
                              <a:latin typeface="Cambria Math" panose="02040503050406030204" pitchFamily="18" charset="0"/>
                            </a:rPr>
                            <m:t>⟨</m:t>
                          </m:r>
                          <m:r>
                            <m:rPr>
                              <m:nor/>
                            </m:rPr>
                            <a:rPr lang="en-US" sz="2200" i="1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sz="2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200" i="1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sz="2200" i="1"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IN" sz="2200" i="1">
                          <a:latin typeface="Cambria Math" panose="02040503050406030204" pitchFamily="18" charset="0"/>
                        </a:rPr>
                        <m:t>⟩</m:t>
                      </m:r>
                      <m:r>
                        <m:rPr>
                          <m:nor/>
                        </m:rPr>
                        <a:rPr lang="en-IN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𝐼𝐶</m:t>
                          </m:r>
                        </m:sub>
                      </m:sSub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</a:endParaRPr>
              </a:p>
              <a:p>
                <a:r>
                  <a:rPr lang="en-US" sz="2200" dirty="0">
                    <a:latin typeface="Cambria Math" panose="02040503050406030204" pitchFamily="18" charset="0"/>
                  </a:rPr>
                  <a:t>The network adjusts the weights to minimize this loss, so that the predicted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</a:rPr>
                  <a:t> satisfies the </a:t>
                </a:r>
                <a:r>
                  <a:rPr lang="en-IN" sz="2200" dirty="0">
                    <a:latin typeface="Cambria Math" panose="02040503050406030204" pitchFamily="18" charset="0"/>
                  </a:rPr>
                  <a:t>Schrödinger equation.</a:t>
                </a:r>
              </a:p>
              <a:p>
                <a:r>
                  <a:rPr lang="en-IN" sz="2200" dirty="0">
                    <a:latin typeface="Cambria Math" panose="02040503050406030204" pitchFamily="18" charset="0"/>
                  </a:rPr>
                  <a:t>For a QHO, the wave function should vanish at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</a:rPr>
                  <a:t>, i.e.,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2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Subtitle 2">
                <a:extLst>
                  <a:ext uri="{FF2B5EF4-FFF2-40B4-BE49-F238E27FC236}">
                    <a16:creationId xmlns:a16="http://schemas.microsoft.com/office/drawing/2014/main" id="{4D5C4205-7A89-5C6B-D1A1-52C0DBDF8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828800"/>
                <a:ext cx="5415225" cy="4235071"/>
              </a:xfrm>
              <a:prstGeom prst="rect">
                <a:avLst/>
              </a:prstGeom>
              <a:blipFill>
                <a:blip r:embed="rId3"/>
                <a:stretch>
                  <a:fillRect l="-1464" t="-432" r="-13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15A2118A-DDEC-F17A-2F5B-C545F6C636D2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0DBC869-F245-0D33-EB05-911C4273BF20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11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20991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9D253-8FB3-A013-207D-DAA66AC82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Subtitle 2">
                <a:extLst>
                  <a:ext uri="{FF2B5EF4-FFF2-40B4-BE49-F238E27FC236}">
                    <a16:creationId xmlns:a16="http://schemas.microsoft.com/office/drawing/2014/main" id="{177CA39F-88FD-5743-04B3-4B33EB27921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1452880" y="1273137"/>
                <a:ext cx="4226560" cy="4575886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Consider a network of 2 layers.</a:t>
                </a:r>
              </a:p>
              <a:p>
                <a:r>
                  <a:rPr lang="en-US" dirty="0"/>
                  <a:t>→ First layer computation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Input →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Linear operation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Activation function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This becomes the output of the first layer. </a:t>
                </a:r>
              </a:p>
              <a:p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Subtitle 2">
                <a:extLst>
                  <a:ext uri="{FF2B5EF4-FFF2-40B4-BE49-F238E27FC236}">
                    <a16:creationId xmlns:a16="http://schemas.microsoft.com/office/drawing/2014/main" id="{177CA39F-88FD-5743-04B3-4B33EB2792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1452880" y="1273137"/>
                <a:ext cx="4226560" cy="4575886"/>
              </a:xfrm>
              <a:blipFill>
                <a:blip r:embed="rId2"/>
                <a:stretch>
                  <a:fillRect l="-2161" t="-4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ubtitle 2">
                <a:extLst>
                  <a:ext uri="{FF2B5EF4-FFF2-40B4-BE49-F238E27FC236}">
                    <a16:creationId xmlns:a16="http://schemas.microsoft.com/office/drawing/2014/main" id="{34A669FD-45F4-E598-7415-7867A7B73D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19520" y="1273137"/>
                <a:ext cx="5191705" cy="478666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Wingdings 2" panose="05020102010507070707" pitchFamily="18" charset="2"/>
                  <a:buNone/>
                  <a:defRPr sz="2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"/>
                  <a:defRPr sz="2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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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"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The output of the first layer is the input to the second layer –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mbria Math" panose="02040503050406030204" pitchFamily="18" charset="0"/>
                  </a:rPr>
                  <a:t>Input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0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mbria Math" panose="02040503050406030204" pitchFamily="18" charset="0"/>
                  </a:rPr>
                  <a:t>Linear operation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mbria Math" panose="02040503050406030204" pitchFamily="18" charset="0"/>
                  </a:rPr>
                  <a:t>Generally, the last layer of PINN is linear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</a:rPr>
                  <a:t>Thus, the predicted wavefunction is –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𝝍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Subtitle 2">
                <a:extLst>
                  <a:ext uri="{FF2B5EF4-FFF2-40B4-BE49-F238E27FC236}">
                    <a16:creationId xmlns:a16="http://schemas.microsoft.com/office/drawing/2014/main" id="{34A669FD-45F4-E598-7415-7867A7B73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520" y="1273137"/>
                <a:ext cx="5191705" cy="4786668"/>
              </a:xfrm>
              <a:prstGeom prst="rect">
                <a:avLst/>
              </a:prstGeom>
              <a:blipFill>
                <a:blip r:embed="rId3"/>
                <a:stretch>
                  <a:fillRect l="-1880" t="-382" b="-6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Date Placeholder 1">
            <a:extLst>
              <a:ext uri="{FF2B5EF4-FFF2-40B4-BE49-F238E27FC236}">
                <a16:creationId xmlns:a16="http://schemas.microsoft.com/office/drawing/2014/main" id="{2B06E731-2F8E-127E-2217-BFA3937F61DE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F27249C-A498-B507-A86A-27E155F9C078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12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37227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6FFC242D-C6E2-FA00-98E2-7DF843B327CE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503B0-8EA8-D95B-D602-DEA7E5BFD758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13</a:t>
            </a:fld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CE5409-775F-A676-C483-B0711D0CD7F3}"/>
                  </a:ext>
                </a:extLst>
              </p:cNvPr>
              <p:cNvSpPr txBox="1"/>
              <p:nvPr/>
            </p:nvSpPr>
            <p:spPr>
              <a:xfrm>
                <a:off x="2121775" y="2527224"/>
                <a:ext cx="9176845" cy="30315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b="0" i="0" dirty="0">
                    <a:solidFill>
                      <a:srgbClr val="1F1F1F"/>
                    </a:solidFill>
                    <a:effectLst/>
                    <a:latin typeface="Courier New" panose="02070309020205020404" pitchFamily="49" charset="0"/>
                  </a:rPr>
                  <a:t>Learned Energy: 0.6596318483352661</a:t>
                </a:r>
              </a:p>
              <a:p>
                <a:r>
                  <a:rPr lang="en-IN" sz="2000" b="0" i="0" dirty="0">
                    <a:solidFill>
                      <a:srgbClr val="1F1F1F"/>
                    </a:solidFill>
                    <a:effectLst/>
                    <a:latin typeface="Courier New" panose="02070309020205020404" pitchFamily="49" charset="0"/>
                  </a:rPr>
                  <a:t> </a:t>
                </a:r>
                <a:br>
                  <a:rPr lang="en-IN" sz="2000" dirty="0"/>
                </a:br>
                <a:r>
                  <a:rPr lang="en-IN" sz="2000" dirty="0">
                    <a:solidFill>
                      <a:srgbClr val="1F1F1F"/>
                    </a:solidFill>
                    <a:latin typeface="Courier New" panose="02070309020205020404" pitchFamily="49" charset="0"/>
                  </a:rPr>
                  <a:t>--- Solution 1 ---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0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ar-AE" sz="20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0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01</m:t>
                      </m:r>
                      <m:sSup>
                        <m:sSupPr>
                          <m:ctrlP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ar-AE" sz="20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0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02</m:t>
                      </m:r>
                      <m:sSup>
                        <m:sSupPr>
                          <m:ctrlP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ar-AE" sz="20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0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02</m:t>
                      </m:r>
                      <m:sSup>
                        <m:sSupPr>
                          <m:ctrlP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20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20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0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03</m:t>
                      </m:r>
                      <m:r>
                        <a:rPr lang="ar-AE" sz="20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0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0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98</m:t>
                      </m:r>
                    </m:oMath>
                  </m:oMathPara>
                </a14:m>
                <a:endParaRPr lang="ar-AE" sz="2000" dirty="0">
                  <a:solidFill>
                    <a:srgbClr val="1F1F1F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 smtClean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00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  <m:sSup>
                            <m:sSupPr>
                              <m:ctrlPr>
                                <a:rPr lang="ar-AE" sz="200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sz="200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02</m:t>
                          </m:r>
                          <m:sSup>
                            <m:sSupPr>
                              <m:ctrlPr>
                                <a:rPr lang="ar-AE" sz="200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sz="200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02</m:t>
                          </m:r>
                          <m:sSup>
                            <m:sSupPr>
                              <m:ctrlPr>
                                <a:rPr lang="ar-AE" sz="200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sz="200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03</m:t>
                          </m:r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98</m:t>
                          </m:r>
                        </m:e>
                      </m:d>
                      <m:sSup>
                        <m:sSupPr>
                          <m:ctrlP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ar-AE" sz="200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sz="200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AE" sz="200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sz="2000" dirty="0">
                  <a:solidFill>
                    <a:srgbClr val="1F1F1F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endParaRPr lang="ar-AE" sz="2000" dirty="0">
                  <a:solidFill>
                    <a:srgbClr val="1F1F1F"/>
                  </a:solidFill>
                  <a:latin typeface="Courier New" panose="02070309020205020404" pitchFamily="49" charset="0"/>
                </a:endParaRPr>
              </a:p>
              <a:p>
                <a:r>
                  <a:rPr lang="ar-AE" sz="2000" dirty="0">
                    <a:solidFill>
                      <a:srgbClr val="1F1F1F"/>
                    </a:solidFill>
                    <a:latin typeface="Courier New" panose="02070309020205020404" pitchFamily="49" charset="0"/>
                  </a:rPr>
                  <a:t>--- </a:t>
                </a:r>
                <a:r>
                  <a:rPr lang="en-IN" sz="2000" dirty="0">
                    <a:solidFill>
                      <a:srgbClr val="1F1F1F"/>
                    </a:solidFill>
                    <a:latin typeface="Courier New" panose="02070309020205020404" pitchFamily="49" charset="0"/>
                  </a:rPr>
                  <a:t>Solution 2 ---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00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ar-AE" sz="200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00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02</m:t>
                      </m:r>
                      <m:sSup>
                        <m:sSupPr>
                          <m:ctrlP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ar-AE" sz="200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00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73</m:t>
                      </m:r>
                      <m:r>
                        <a:rPr lang="ar-AE" sz="200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ar-AE" sz="2000" i="1" dirty="0">
                  <a:solidFill>
                    <a:srgbClr val="1F1F1F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00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02</m:t>
                          </m:r>
                          <m:sSup>
                            <m:sSupPr>
                              <m:ctrlPr>
                                <a:rPr lang="ar-AE" sz="200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sz="200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73</m:t>
                          </m:r>
                          <m: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ar-AE" sz="200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sz="200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AE" sz="200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sz="2000" i="1" dirty="0">
                  <a:solidFill>
                    <a:srgbClr val="1F1F1F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CE5409-775F-A676-C483-B0711D0CD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775" y="2527224"/>
                <a:ext cx="9176845" cy="3031599"/>
              </a:xfrm>
              <a:prstGeom prst="rect">
                <a:avLst/>
              </a:prstGeom>
              <a:blipFill>
                <a:blip r:embed="rId3"/>
                <a:stretch>
                  <a:fillRect l="-731" t="-10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0153CE1-D82E-75F7-B05F-5580EA4E2C8D}"/>
              </a:ext>
            </a:extLst>
          </p:cNvPr>
          <p:cNvSpPr txBox="1"/>
          <p:nvPr/>
        </p:nvSpPr>
        <p:spPr>
          <a:xfrm>
            <a:off x="1576552" y="1019503"/>
            <a:ext cx="90388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QHO solutions obtained using PINN</a:t>
            </a:r>
          </a:p>
        </p:txBody>
      </p:sp>
    </p:spTree>
    <p:extLst>
      <p:ext uri="{BB962C8B-B14F-4D97-AF65-F5344CB8AC3E}">
        <p14:creationId xmlns:p14="http://schemas.microsoft.com/office/powerpoint/2010/main" val="912265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C7435-68C2-609F-53D2-C412237F7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84E8A057-4554-F3C2-54F1-6AA4754BD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3249" y="965606"/>
            <a:ext cx="9513296" cy="866171"/>
          </a:xfrm>
        </p:spPr>
        <p:txBody>
          <a:bodyPr>
            <a:normAutofit/>
          </a:bodyPr>
          <a:lstStyle/>
          <a:p>
            <a:pPr algn="ctr"/>
            <a:r>
              <a:rPr lang="en-US" sz="5200" b="1" dirty="0">
                <a:solidFill>
                  <a:schemeClr val="accent3"/>
                </a:solidFill>
              </a:rPr>
              <a:t>PINN v/s Analytical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1F152B1-7C85-9603-2531-30822E85A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7440" y="2332356"/>
                <a:ext cx="8063345" cy="2952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marR="0" lvl="0" indent="-45720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accent2">
                      <a:lumMod val="75000"/>
                    </a:schemeClr>
                  </a:buClr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en-US" altLang="en-US" sz="2600" dirty="0">
                    <a:solidFill>
                      <a:schemeClr val="tx2"/>
                    </a:solidFill>
                  </a:rPr>
                  <a:t>Neural Networks </a:t>
                </a:r>
                <a:r>
                  <a:rPr lang="en-US" altLang="en-US" sz="2600" b="1" dirty="0">
                    <a:solidFill>
                      <a:schemeClr val="tx2"/>
                    </a:solidFill>
                  </a:rPr>
                  <a:t>learn a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6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6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en-US" sz="26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altLang="en-US" sz="26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6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en-US" sz="2600" dirty="0">
                    <a:solidFill>
                      <a:schemeClr val="tx2"/>
                    </a:solidFill>
                  </a:rPr>
                  <a:t> using its weights and biases. </a:t>
                </a:r>
              </a:p>
              <a:p>
                <a:pPr marL="457200" marR="0" lvl="0" indent="-45720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accent2">
                      <a:lumMod val="75000"/>
                    </a:schemeClr>
                  </a:buClr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en-US" altLang="en-US" sz="2600" dirty="0">
                    <a:solidFill>
                      <a:schemeClr val="tx2"/>
                    </a:solidFill>
                  </a:rPr>
                  <a:t>Outputs can be evaluated at any point.</a:t>
                </a:r>
              </a:p>
              <a:p>
                <a:pPr marL="457200" indent="-4572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accent2">
                      <a:lumMod val="75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n-US" sz="2600" dirty="0"/>
                  <a:t>The learned function </a:t>
                </a:r>
                <a:r>
                  <a:rPr lang="en-US" sz="2600" b="1" dirty="0"/>
                  <a:t>can be reconstructed </a:t>
                </a:r>
                <a:r>
                  <a:rPr lang="en-US" sz="2600" dirty="0"/>
                  <a:t>using</a:t>
                </a:r>
                <a:endParaRPr lang="en-IN" sz="2600" dirty="0">
                  <a:solidFill>
                    <a:schemeClr val="tx2"/>
                  </a:solidFill>
                </a:endParaRPr>
              </a:p>
              <a:p>
                <a:pPr lvl="1" algn="ctr">
                  <a:lnSpc>
                    <a:spcPct val="120000"/>
                  </a:lnSpc>
                </a:pPr>
                <a:r>
                  <a:rPr lang="en-IN" sz="2600" i="1" dirty="0">
                    <a:solidFill>
                      <a:schemeClr val="tx2"/>
                    </a:solidFill>
                  </a:rPr>
                  <a:t>interpolation; curve fitting; symbolic regression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IN" sz="2600" dirty="0">
                    <a:solidFill>
                      <a:schemeClr val="tx2"/>
                    </a:solidFill>
                  </a:rPr>
                  <a:t>but it </a:t>
                </a:r>
                <a:r>
                  <a:rPr lang="en-IN" sz="2600" b="1" dirty="0">
                    <a:solidFill>
                      <a:schemeClr val="tx2"/>
                    </a:solidFill>
                  </a:rPr>
                  <a:t>may not be the exact</a:t>
                </a:r>
                <a:r>
                  <a:rPr lang="en-IN" sz="2600" dirty="0">
                    <a:solidFill>
                      <a:schemeClr val="tx2"/>
                    </a:solidFill>
                  </a:rPr>
                  <a:t> simple analytical form.</a:t>
                </a:r>
                <a:endParaRPr lang="en-US" altLang="en-US" sz="26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1F152B1-7C85-9603-2531-30822E85A5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7440" y="2332356"/>
                <a:ext cx="8063345" cy="2952218"/>
              </a:xfrm>
              <a:prstGeom prst="rect">
                <a:avLst/>
              </a:prstGeom>
              <a:blipFill>
                <a:blip r:embed="rId3"/>
                <a:stretch>
                  <a:fillRect l="-1134" b="-475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7A30588E-067A-34D7-C277-F690E13DB2D1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E5B7926-3E03-606C-A4A4-DBAE2994ADBE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14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42053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7">
                <a:extLst>
                  <a:ext uri="{FF2B5EF4-FFF2-40B4-BE49-F238E27FC236}">
                    <a16:creationId xmlns:a16="http://schemas.microsoft.com/office/drawing/2014/main" id="{A2044468-1643-18AF-C7C1-3BC9CBD50EA5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388938" y="1491018"/>
                <a:ext cx="5673726" cy="456830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Equation of a damped harmonic oscillator –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dirty="0"/>
              </a:p>
              <a:p>
                <a:endParaRPr lang="en-US" sz="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𝑚𝑘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IN" dirty="0"/>
              </a:p>
              <a:p>
                <a:r>
                  <a:rPr lang="en-US" dirty="0">
                    <a:latin typeface="Cambria Math" panose="02040503050406030204" pitchFamily="18" charset="0"/>
                  </a:rPr>
                  <a:t>where,</a:t>
                </a:r>
              </a:p>
              <a:p>
                <a:pPr marL="10287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mass 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10287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dirty="0"/>
                  <a:t> damping coefficient</a:t>
                </a:r>
              </a:p>
              <a:p>
                <a:pPr marL="10287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dirty="0"/>
                  <a:t> spring constant</a:t>
                </a:r>
              </a:p>
              <a:p>
                <a:pPr marL="10287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𝜻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damping ratio</a:t>
                </a:r>
                <a:endParaRPr lang="en-IN" b="1" dirty="0"/>
              </a:p>
            </p:txBody>
          </p:sp>
        </mc:Choice>
        <mc:Fallback xmlns="">
          <p:sp>
            <p:nvSpPr>
              <p:cNvPr id="8" name="Text Placeholder 7">
                <a:extLst>
                  <a:ext uri="{FF2B5EF4-FFF2-40B4-BE49-F238E27FC236}">
                    <a16:creationId xmlns:a16="http://schemas.microsoft.com/office/drawing/2014/main" id="{A2044468-1643-18AF-C7C1-3BC9CBD50E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388938" y="1491018"/>
                <a:ext cx="5673726" cy="4568304"/>
              </a:xfrm>
              <a:blipFill>
                <a:blip r:embed="rId3"/>
                <a:stretch>
                  <a:fillRect l="-1719" t="-401" b="-14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8F2DA271-66B9-A2A9-CA5F-024CFE999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721" y="685800"/>
            <a:ext cx="6106160" cy="805218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>
                <a:solidFill>
                  <a:schemeClr val="accent3"/>
                </a:solidFill>
              </a:rPr>
              <a:t>Damped Harmonic Oscillator</a:t>
            </a:r>
            <a:endParaRPr lang="en-IN" sz="4000" b="1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7AAD797-1900-8993-158B-AB7811F24F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851506"/>
                  </p:ext>
                </p:extLst>
              </p:nvPr>
            </p:nvGraphicFramePr>
            <p:xfrm>
              <a:off x="6856410" y="471488"/>
              <a:ext cx="4281489" cy="3277550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723425">
                      <a:extLst>
                        <a:ext uri="{9D8B030D-6E8A-4147-A177-3AD203B41FA5}">
                          <a16:colId xmlns:a16="http://schemas.microsoft.com/office/drawing/2014/main" val="1728929627"/>
                        </a:ext>
                      </a:extLst>
                    </a:gridCol>
                    <a:gridCol w="1737360">
                      <a:extLst>
                        <a:ext uri="{9D8B030D-6E8A-4147-A177-3AD203B41FA5}">
                          <a16:colId xmlns:a16="http://schemas.microsoft.com/office/drawing/2014/main" val="231800989"/>
                        </a:ext>
                      </a:extLst>
                    </a:gridCol>
                    <a:gridCol w="1820704">
                      <a:extLst>
                        <a:ext uri="{9D8B030D-6E8A-4147-A177-3AD203B41FA5}">
                          <a16:colId xmlns:a16="http://schemas.microsoft.com/office/drawing/2014/main" val="2193506804"/>
                        </a:ext>
                      </a:extLst>
                    </a:gridCol>
                  </a:tblGrid>
                  <a:tr h="65551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𝜻</m:t>
                                </m:r>
                              </m:oMath>
                            </m:oMathPara>
                          </a14:m>
                          <a:endParaRPr lang="en-IN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Type of motion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Behaviour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9186757"/>
                      </a:ext>
                    </a:extLst>
                  </a:tr>
                  <a:tr h="65551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/>
                            <a:t>0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No damping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Pure oscillation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88862875"/>
                      </a:ext>
                    </a:extLst>
                  </a:tr>
                  <a:tr h="65551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(0, 1)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Underdamped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Oscillations slowly decay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6715891"/>
                      </a:ext>
                    </a:extLst>
                  </a:tr>
                  <a:tr h="65551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Critically damped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Fastest return to equilibrium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39887900"/>
                      </a:ext>
                    </a:extLst>
                  </a:tr>
                  <a:tr h="65551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&gt;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Overdamped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No oscillation, slow return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123940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7AAD797-1900-8993-158B-AB7811F24F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851506"/>
                  </p:ext>
                </p:extLst>
              </p:nvPr>
            </p:nvGraphicFramePr>
            <p:xfrm>
              <a:off x="6856410" y="471488"/>
              <a:ext cx="4281489" cy="3277550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723425">
                      <a:extLst>
                        <a:ext uri="{9D8B030D-6E8A-4147-A177-3AD203B41FA5}">
                          <a16:colId xmlns:a16="http://schemas.microsoft.com/office/drawing/2014/main" val="1728929627"/>
                        </a:ext>
                      </a:extLst>
                    </a:gridCol>
                    <a:gridCol w="1737360">
                      <a:extLst>
                        <a:ext uri="{9D8B030D-6E8A-4147-A177-3AD203B41FA5}">
                          <a16:colId xmlns:a16="http://schemas.microsoft.com/office/drawing/2014/main" val="231800989"/>
                        </a:ext>
                      </a:extLst>
                    </a:gridCol>
                    <a:gridCol w="1820704">
                      <a:extLst>
                        <a:ext uri="{9D8B030D-6E8A-4147-A177-3AD203B41FA5}">
                          <a16:colId xmlns:a16="http://schemas.microsoft.com/office/drawing/2014/main" val="2193506804"/>
                        </a:ext>
                      </a:extLst>
                    </a:gridCol>
                  </a:tblGrid>
                  <a:tr h="6555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40" t="-926" r="-493277" b="-412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Type of motion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b="1" dirty="0"/>
                            <a:t>Behaviour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9186757"/>
                      </a:ext>
                    </a:extLst>
                  </a:tr>
                  <a:tr h="65551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/>
                            <a:t>0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No damping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Pure oscillation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88862875"/>
                      </a:ext>
                    </a:extLst>
                  </a:tr>
                  <a:tr h="65551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(0, 1)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Underdamped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Oscillations slowly decay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6715891"/>
                      </a:ext>
                    </a:extLst>
                  </a:tr>
                  <a:tr h="65551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Critically damped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Fastest return to equilibrium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39887900"/>
                      </a:ext>
                    </a:extLst>
                  </a:tr>
                  <a:tr h="65551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&gt;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Overdamped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No oscillation, slow return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1239406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91A6C2B-701C-08D7-F67B-52BC1A1CACF5}"/>
                  </a:ext>
                </a:extLst>
              </p:cNvPr>
              <p:cNvSpPr txBox="1"/>
              <p:nvPr/>
            </p:nvSpPr>
            <p:spPr>
              <a:xfrm>
                <a:off x="6845775" y="4103230"/>
                <a:ext cx="4617721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>
                    <a:solidFill>
                      <a:schemeClr val="tx2"/>
                    </a:solidFill>
                  </a:rPr>
                  <a:t>Considering – </a:t>
                </a:r>
                <a:r>
                  <a:rPr lang="en-IN" sz="2000" b="1" dirty="0">
                    <a:solidFill>
                      <a:schemeClr val="tx2"/>
                    </a:solidFill>
                  </a:rPr>
                  <a:t>m</a:t>
                </a:r>
                <a:r>
                  <a:rPr lang="en-IN" sz="2000" dirty="0">
                    <a:solidFill>
                      <a:schemeClr val="tx2"/>
                    </a:solidFill>
                  </a:rPr>
                  <a:t> = 1, </a:t>
                </a:r>
                <a:r>
                  <a:rPr lang="en-IN" sz="2000" b="1" dirty="0">
                    <a:solidFill>
                      <a:schemeClr val="tx2"/>
                    </a:solidFill>
                  </a:rPr>
                  <a:t>c</a:t>
                </a:r>
                <a:r>
                  <a:rPr lang="en-IN" sz="2000" dirty="0">
                    <a:solidFill>
                      <a:schemeClr val="tx2"/>
                    </a:solidFill>
                  </a:rPr>
                  <a:t> = 0.4, </a:t>
                </a:r>
                <a:r>
                  <a:rPr lang="en-IN" sz="2000" b="1" dirty="0">
                    <a:solidFill>
                      <a:schemeClr val="tx2"/>
                    </a:solidFill>
                  </a:rPr>
                  <a:t>k</a:t>
                </a:r>
                <a:r>
                  <a:rPr lang="en-IN" sz="2000" dirty="0">
                    <a:solidFill>
                      <a:schemeClr val="tx2"/>
                    </a:solidFill>
                  </a:rPr>
                  <a:t> = 1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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𝜻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en-US" sz="2000" b="0" dirty="0"/>
              </a:p>
              <a:p>
                <a:r>
                  <a:rPr lang="en-IN" sz="2000" dirty="0"/>
                  <a:t>Thus, we consider an underdamped system.</a:t>
                </a:r>
              </a:p>
              <a:p>
                <a:r>
                  <a:rPr lang="en-US" sz="2000" dirty="0"/>
                  <a:t>Initial conditions –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91A6C2B-701C-08D7-F67B-52BC1A1CA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5775" y="4103230"/>
                <a:ext cx="4617721" cy="1938992"/>
              </a:xfrm>
              <a:prstGeom prst="rect">
                <a:avLst/>
              </a:prstGeom>
              <a:blipFill>
                <a:blip r:embed="rId5"/>
                <a:stretch>
                  <a:fillRect l="-1453" t="-12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9B8A316D-1789-F9E5-6B25-8EEDAC464806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08D79-8954-A55B-A5E4-15842DAB1E00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15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80789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4F5B16-0FED-5926-E8B9-C686EFF8F0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12067" y="2052530"/>
                <a:ext cx="8346333" cy="3529843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Assume an exponential solution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𝑟𝑡</m:t>
                          </m:r>
                        </m:sup>
                      </m:sSup>
                    </m:oMath>
                  </m:oMathPara>
                </a14:m>
                <a:endParaRPr lang="en-US" sz="2000" b="0" dirty="0"/>
              </a:p>
              <a:p>
                <a:pPr/>
                <a:r>
                  <a:rPr lang="en-US" sz="2000" dirty="0"/>
                  <a:t>Compute the derivatives and substitute into the differential equation – </a:t>
                </a:r>
                <a:br>
                  <a:rPr lang="en-US" sz="20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 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𝑟𝑡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∵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𝑟𝑡</m:t>
                        </m:r>
                      </m:sup>
                    </m:sSup>
                    <m:r>
                      <m:rPr>
                        <m:nor/>
                      </m:rPr>
                      <a:rPr lang="en-IN" sz="2000"/>
                      <m:t>≠</m:t>
                    </m:r>
                    <m:r>
                      <m:rPr>
                        <m:nor/>
                      </m:rPr>
                      <a:rPr lang="en-US" sz="2000"/>
                      <m:t> </m:t>
                    </m:r>
                    <m:r>
                      <m:rPr>
                        <m:nor/>
                      </m:rPr>
                      <a:rPr lang="en-US" sz="2000"/>
                      <m:t>0</m:t>
                    </m:r>
                  </m:oMath>
                </a14:m>
                <a:r>
                  <a:rPr lang="en-IN" sz="2000" dirty="0"/>
                  <a:t> 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 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000" b="1" dirty="0"/>
                  <a:t>		</a:t>
                </a:r>
                <a:r>
                  <a:rPr lang="en-IN" sz="2000" b="1" i="1" dirty="0"/>
                  <a:t>(characteristic equation)</a:t>
                </a:r>
                <a:endParaRPr lang="en-US" sz="2000" b="1" dirty="0"/>
              </a:p>
              <a:p>
                <a:endParaRPr lang="en-US" sz="20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4F5B16-0FED-5926-E8B9-C686EFF8F0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2067" y="2052530"/>
                <a:ext cx="8346333" cy="3529843"/>
              </a:xfrm>
              <a:blipFill>
                <a:blip r:embed="rId2"/>
                <a:stretch>
                  <a:fillRect l="-804" t="-3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434549E-3696-DA6F-B365-BAD01CDB3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4484" y="944881"/>
            <a:ext cx="4723032" cy="79311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200" b="1" dirty="0">
                <a:solidFill>
                  <a:schemeClr val="accent3"/>
                </a:solidFill>
              </a:rPr>
              <a:t>Analytical Solution</a:t>
            </a:r>
            <a:endParaRPr lang="en-IN" sz="5200" b="1" dirty="0">
              <a:solidFill>
                <a:schemeClr val="accent3"/>
              </a:solidFill>
            </a:endParaRPr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5ADDE312-4A1D-5ABD-1034-F7CD7A8DBDA8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CBA1E1-FD8C-C5B7-A636-5548962B37EC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16</a:t>
            </a:fld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E8B421E7-5C47-B27A-ADA3-A094C959AA6C}"/>
                  </a:ext>
                </a:extLst>
              </p:cNvPr>
              <p:cNvSpPr/>
              <p:nvPr/>
            </p:nvSpPr>
            <p:spPr>
              <a:xfrm>
                <a:off x="3176268" y="4967635"/>
                <a:ext cx="5839461" cy="63976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𝒙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𝒕</m:t>
                          </m:r>
                        </m:e>
                      </m:d>
                      <m:r>
                        <a:rPr lang="en-US" sz="2000" b="1" i="1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𝒆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𝟎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.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𝟐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𝒕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[</m:t>
                      </m:r>
                      <m:func>
                        <m:funcPr>
                          <m:ctrlP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funcPr>
                        <m:fName>
                          <m: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𝒄𝒐𝒔</m:t>
                          </m:r>
                        </m:fName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𝟎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.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𝟗𝟖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𝒕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+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𝟎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.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𝟐𝟎𝟒</m:t>
                          </m:r>
                          <m:func>
                            <m:func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funcPr>
                            <m:fName>
                              <m:r>
                                <a:rPr lang="en-US" sz="2000" b="1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𝒔𝒊𝒏</m:t>
                              </m:r>
                            </m:fName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𝟎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.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𝟗𝟖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𝒕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]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E8B421E7-5C47-B27A-ADA3-A094C959AA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268" y="4967635"/>
                <a:ext cx="5839461" cy="63976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051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1B1D8-C142-76B9-1FED-DAED20653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B4246FD-C4E4-4E4A-100E-211B8E3C3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20377"/>
              </p:ext>
            </p:extLst>
          </p:nvPr>
        </p:nvGraphicFramePr>
        <p:xfrm>
          <a:off x="1626592" y="1451917"/>
          <a:ext cx="4745620" cy="308777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13458">
                  <a:extLst>
                    <a:ext uri="{9D8B030D-6E8A-4147-A177-3AD203B41FA5}">
                      <a16:colId xmlns:a16="http://schemas.microsoft.com/office/drawing/2014/main" val="2242889854"/>
                    </a:ext>
                  </a:extLst>
                </a:gridCol>
                <a:gridCol w="878428">
                  <a:extLst>
                    <a:ext uri="{9D8B030D-6E8A-4147-A177-3AD203B41FA5}">
                      <a16:colId xmlns:a16="http://schemas.microsoft.com/office/drawing/2014/main" val="142513375"/>
                    </a:ext>
                  </a:extLst>
                </a:gridCol>
                <a:gridCol w="1088021">
                  <a:extLst>
                    <a:ext uri="{9D8B030D-6E8A-4147-A177-3AD203B41FA5}">
                      <a16:colId xmlns:a16="http://schemas.microsoft.com/office/drawing/2014/main" val="1029142628"/>
                    </a:ext>
                  </a:extLst>
                </a:gridCol>
                <a:gridCol w="1076445">
                  <a:extLst>
                    <a:ext uri="{9D8B030D-6E8A-4147-A177-3AD203B41FA5}">
                      <a16:colId xmlns:a16="http://schemas.microsoft.com/office/drawing/2014/main" val="3074055427"/>
                    </a:ext>
                  </a:extLst>
                </a:gridCol>
                <a:gridCol w="1089268">
                  <a:extLst>
                    <a:ext uri="{9D8B030D-6E8A-4147-A177-3AD203B41FA5}">
                      <a16:colId xmlns:a16="http://schemas.microsoft.com/office/drawing/2014/main" val="2929915024"/>
                    </a:ext>
                  </a:extLst>
                </a:gridCol>
              </a:tblGrid>
              <a:tr h="567777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</a:t>
                      </a:r>
                    </a:p>
                    <a:p>
                      <a:pPr algn="ctr">
                        <a:buNone/>
                      </a:pPr>
                      <a:r>
                        <a:rPr lang="en-IN" dirty="0"/>
                        <a:t>(s)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Untrained</a:t>
                      </a:r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Trained</a:t>
                      </a:r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08135"/>
                  </a:ext>
                </a:extLst>
              </a:tr>
              <a:tr h="56777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x(t)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Residual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x(t)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Residual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3934947"/>
                  </a:ext>
                </a:extLst>
              </a:tr>
              <a:tr h="3904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0.1422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-0.0520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1.000000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0.000000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4578135"/>
                  </a:ext>
                </a:extLst>
              </a:tr>
              <a:tr h="3904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0.1318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-0.0776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0.969389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0.000000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6263758"/>
                  </a:ext>
                </a:extLst>
              </a:tr>
              <a:tr h="3904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0.1092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-0.1015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0.881457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0.000000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2168416"/>
                  </a:ext>
                </a:extLst>
              </a:tr>
              <a:tr h="3904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0.0749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-0.1141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0.744364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0.000000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06882"/>
                  </a:ext>
                </a:extLst>
              </a:tr>
              <a:tr h="3904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0.0310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-0.1062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0.568797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0.000000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2775153"/>
                  </a:ext>
                </a:extLst>
              </a:tr>
            </a:tbl>
          </a:graphicData>
        </a:graphic>
      </p:graphicFrame>
      <p:sp>
        <p:nvSpPr>
          <p:cNvPr id="9" name="Date Placeholder 1">
            <a:extLst>
              <a:ext uri="{FF2B5EF4-FFF2-40B4-BE49-F238E27FC236}">
                <a16:creationId xmlns:a16="http://schemas.microsoft.com/office/drawing/2014/main" id="{A2EB6EFB-0F32-F091-74D2-7F4C64E34F3A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8A0E24-D7F9-0CC8-21B9-528E5AEAC2DB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17</a:t>
            </a:fld>
            <a:endParaRPr lang="en-US" sz="18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543A030-6772-721B-2EC9-C6661BF24CB3}"/>
              </a:ext>
            </a:extLst>
          </p:cNvPr>
          <p:cNvSpPr txBox="1">
            <a:spLocks/>
          </p:cNvSpPr>
          <p:nvPr/>
        </p:nvSpPr>
        <p:spPr>
          <a:xfrm>
            <a:off x="1668999" y="673143"/>
            <a:ext cx="8854002" cy="685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600" b="1" u="sng" dirty="0">
                <a:solidFill>
                  <a:schemeClr val="accent3"/>
                </a:solidFill>
                <a:latin typeface="Dante (Headings)2"/>
              </a:rPr>
              <a:t>Trained v/s Untrained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8E28C7B-3984-F17C-55C7-2270786E4CED}"/>
                  </a:ext>
                </a:extLst>
              </p:cNvPr>
              <p:cNvSpPr txBox="1"/>
              <p:nvPr/>
            </p:nvSpPr>
            <p:spPr>
              <a:xfrm>
                <a:off x="6657771" y="1752849"/>
                <a:ext cx="4700944" cy="3785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b="1" dirty="0"/>
                  <a:t>After training:</a:t>
                </a:r>
              </a:p>
              <a:p>
                <a:pPr marL="285750" indent="-285750">
                  <a:buClr>
                    <a:schemeClr val="accent3"/>
                  </a:buCl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sz="2000" dirty="0"/>
                  <a:t>decreases → system moves toward equilibrium </a:t>
                </a:r>
              </a:p>
              <a:p>
                <a:pPr marL="342900" indent="-342900">
                  <a:buClr>
                    <a:schemeClr val="accent3"/>
                  </a:buClr>
                  <a:buFont typeface="Wingdings" panose="05000000000000000000" pitchFamily="2" charset="2"/>
                  <a:buChar char="§"/>
                </a:pPr>
                <a:r>
                  <a:rPr lang="en-IN" sz="2000" dirty="0"/>
                  <a:t>velocity increases initially → restoring force dominates </a:t>
                </a:r>
              </a:p>
              <a:p>
                <a:pPr marL="342900" indent="-342900">
                  <a:buClr>
                    <a:schemeClr val="accent3"/>
                  </a:buClr>
                  <a:buFont typeface="Wingdings" panose="05000000000000000000" pitchFamily="2" charset="2"/>
                  <a:buChar char="§"/>
                </a:pPr>
                <a:r>
                  <a:rPr lang="en-IN" sz="2000" dirty="0"/>
                  <a:t>acceleration remains negative → force acts toward equilibrium </a:t>
                </a:r>
              </a:p>
              <a:p>
                <a:pPr marL="342900" indent="-342900">
                  <a:buClr>
                    <a:schemeClr val="accent3"/>
                  </a:buClr>
                  <a:buFont typeface="Wingdings" panose="05000000000000000000" pitchFamily="2" charset="2"/>
                  <a:buChar char="§"/>
                </a:pPr>
                <a:r>
                  <a:rPr lang="en-IN" sz="2000" dirty="0"/>
                  <a:t>residual approaches zero → governing equation is satisfied </a:t>
                </a:r>
              </a:p>
              <a:p>
                <a:pPr marL="342900" indent="-342900">
                  <a:buClr>
                    <a:schemeClr val="accent3"/>
                  </a:buClr>
                  <a:buFont typeface="Wingdings" panose="05000000000000000000" pitchFamily="2" charset="2"/>
                  <a:buChar char="§"/>
                </a:pPr>
                <a:endParaRPr lang="en-IN" sz="2000" dirty="0"/>
              </a:p>
              <a:p>
                <a:pPr>
                  <a:buClr>
                    <a:schemeClr val="accent3"/>
                  </a:buClr>
                </a:pPr>
                <a:r>
                  <a:rPr lang="en-US" sz="2000" dirty="0"/>
                  <a:t>Training significantly improved physical consistency.</a:t>
                </a:r>
                <a:endParaRPr lang="en-IN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8E28C7B-3984-F17C-55C7-2270786E4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7771" y="1752849"/>
                <a:ext cx="4700944" cy="3785652"/>
              </a:xfrm>
              <a:prstGeom prst="rect">
                <a:avLst/>
              </a:prstGeom>
              <a:blipFill>
                <a:blip r:embed="rId3"/>
                <a:stretch>
                  <a:fillRect l="-1297" t="-805" b="-20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C3D29D5-D927-6168-13EA-297915E6124A}"/>
              </a:ext>
            </a:extLst>
          </p:cNvPr>
          <p:cNvCxnSpPr>
            <a:cxnSpLocks/>
          </p:cNvCxnSpPr>
          <p:nvPr/>
        </p:nvCxnSpPr>
        <p:spPr>
          <a:xfrm flipV="1">
            <a:off x="6575815" y="1497201"/>
            <a:ext cx="0" cy="44601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2705E18-2A95-0704-F4A7-C1CD6065A526}"/>
              </a:ext>
            </a:extLst>
          </p:cNvPr>
          <p:cNvSpPr txBox="1"/>
          <p:nvPr/>
        </p:nvSpPr>
        <p:spPr>
          <a:xfrm>
            <a:off x="1579728" y="4683380"/>
            <a:ext cx="43598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282575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Residual increases with time</a:t>
            </a:r>
          </a:p>
          <a:p>
            <a:pPr marL="457200" indent="-282575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Predictions appear smooth but are inaccurate</a:t>
            </a:r>
          </a:p>
          <a:p>
            <a:pPr marL="457200" indent="-282575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No optimization has occurred</a:t>
            </a:r>
          </a:p>
        </p:txBody>
      </p:sp>
    </p:spTree>
    <p:extLst>
      <p:ext uri="{BB962C8B-B14F-4D97-AF65-F5344CB8AC3E}">
        <p14:creationId xmlns:p14="http://schemas.microsoft.com/office/powerpoint/2010/main" val="1465544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D212B-CDF1-9F5D-CF37-6377D96A1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5328" y="1762975"/>
            <a:ext cx="4368904" cy="3229352"/>
          </a:xfrm>
        </p:spPr>
        <p:txBody>
          <a:bodyPr>
            <a:noAutofit/>
          </a:bodyPr>
          <a:lstStyle/>
          <a:p>
            <a:r>
              <a:rPr lang="en-US" sz="2200" dirty="0"/>
              <a:t>PINNs can work </a:t>
            </a:r>
            <a:r>
              <a:rPr lang="en-US" sz="2200" b="1" dirty="0"/>
              <a:t>without labelled datasets </a:t>
            </a:r>
            <a:r>
              <a:rPr lang="en-US" sz="2200" dirty="0"/>
              <a:t>because they learn using: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Governing differential equations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Initial conditions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Boundary conditions </a:t>
            </a:r>
          </a:p>
          <a:p>
            <a:r>
              <a:rPr lang="en-US" sz="2200" dirty="0"/>
              <a:t>These physical constraints act as supervision.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96D0DC-A4B8-9496-67DD-F14F98E2B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283" y="781942"/>
            <a:ext cx="6481433" cy="884891"/>
          </a:xfrm>
        </p:spPr>
        <p:txBody>
          <a:bodyPr>
            <a:noAutofit/>
          </a:bodyPr>
          <a:lstStyle/>
          <a:p>
            <a:pPr algn="ctr"/>
            <a:r>
              <a:rPr lang="en-US" sz="5200" b="1" dirty="0">
                <a:solidFill>
                  <a:schemeClr val="accent3"/>
                </a:solidFill>
                <a:latin typeface="Dante (Headings)2"/>
              </a:rPr>
              <a:t>Role of Data in PINNs</a:t>
            </a:r>
            <a:endParaRPr lang="en-IN" sz="5200" b="1" dirty="0">
              <a:solidFill>
                <a:schemeClr val="accent3"/>
              </a:solidFill>
              <a:latin typeface="Dante (Headings)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9CE22-77C4-FCC7-4FFA-E06B34527D20}"/>
              </a:ext>
            </a:extLst>
          </p:cNvPr>
          <p:cNvSpPr txBox="1"/>
          <p:nvPr/>
        </p:nvSpPr>
        <p:spPr>
          <a:xfrm>
            <a:off x="6377769" y="1979319"/>
            <a:ext cx="4118043" cy="2796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Data becomes necessary when: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2"/>
                </a:solidFill>
              </a:rPr>
              <a:t>governing equations are incomplete 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2"/>
                </a:solidFill>
              </a:rPr>
              <a:t>experimental noise exists 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2"/>
                </a:solidFill>
              </a:rPr>
              <a:t>parameters are unknown 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2"/>
                </a:solidFill>
              </a:rPr>
              <a:t>exact solutions are unavailable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A99652D6-23A8-E724-BCD7-A4C4EAA2C566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D95DA1F-A523-E12A-C5DE-F2BFE1C9C369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18</a:t>
            </a:fld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66B63E-4F31-FEAE-62FD-A5870A60EE82}"/>
              </a:ext>
            </a:extLst>
          </p:cNvPr>
          <p:cNvSpPr txBox="1"/>
          <p:nvPr/>
        </p:nvSpPr>
        <p:spPr>
          <a:xfrm>
            <a:off x="1600972" y="5184611"/>
            <a:ext cx="89900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PINNs combine physics-driven learning with data-driven learning whenever required.</a:t>
            </a:r>
            <a:endParaRPr lang="en-IN" sz="2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174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2E609-3C72-239E-8CD0-D52369596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3787" y="124506"/>
            <a:ext cx="4703157" cy="3304494"/>
          </a:xfrm>
        </p:spPr>
        <p:txBody>
          <a:bodyPr>
            <a:noAutofit/>
          </a:bodyPr>
          <a:lstStyle/>
          <a:p>
            <a:r>
              <a:rPr lang="en-IN" sz="5200" b="1" dirty="0">
                <a:solidFill>
                  <a:schemeClr val="accent3"/>
                </a:solidFill>
              </a:rPr>
              <a:t>Hypergeometric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14F85049-B8B3-E352-04E9-52D9B0519165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373040" y="3795869"/>
                <a:ext cx="5991366" cy="1938763"/>
              </a:xfrm>
            </p:spPr>
            <p:txBody>
              <a:bodyPr>
                <a:noAutofit/>
              </a:bodyPr>
              <a:lstStyle/>
              <a:p>
                <a:r>
                  <a:rPr lang="en-US" sz="2000" dirty="0"/>
                  <a:t>Standard form –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f>
                        <m:f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num>
                        <m:den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  <m:sSup>
                            <m:sSup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f>
                        <m:f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𝒂𝒃𝒚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000" b="1" dirty="0"/>
              </a:p>
              <a:p>
                <a:r>
                  <a:rPr lang="en-US" sz="2000" dirty="0"/>
                  <a:t>here,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→ unknown function</a:t>
                </a:r>
              </a:p>
              <a:p>
                <a:r>
                  <a:rPr lang="en-US" sz="2000" dirty="0"/>
                  <a:t>       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/>
                  <a:t> → constants or parameters</a:t>
                </a: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14F85049-B8B3-E352-04E9-52D9B05191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373040" y="3795869"/>
                <a:ext cx="5991366" cy="1938763"/>
              </a:xfrm>
              <a:blipFill>
                <a:blip r:embed="rId3"/>
                <a:stretch>
                  <a:fillRect l="-1017" t="-629" b="-103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Date Placeholder 1">
            <a:extLst>
              <a:ext uri="{FF2B5EF4-FFF2-40B4-BE49-F238E27FC236}">
                <a16:creationId xmlns:a16="http://schemas.microsoft.com/office/drawing/2014/main" id="{266F6499-1BFD-538D-CAB9-B6387A406446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3B288C71-B5B4-3470-29D7-015E0C7C5F8A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19</a:t>
            </a:fld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27296E-4CBB-8AA9-B821-9DDF2C05571E}"/>
                  </a:ext>
                </a:extLst>
              </p:cNvPr>
              <p:cNvSpPr txBox="1"/>
              <p:nvPr/>
            </p:nvSpPr>
            <p:spPr>
              <a:xfrm>
                <a:off x="6863764" y="2518596"/>
                <a:ext cx="4367491" cy="25545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dirty="0"/>
                  <a:t>This equation contains </a:t>
                </a:r>
                <a:r>
                  <a:rPr lang="en-US" sz="2000" b="1" dirty="0"/>
                  <a:t>regular singular points at</a:t>
                </a:r>
                <a:endParaRPr lang="en-US" sz="20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=0,</m:t>
                      </m:r>
                      <m:r>
                        <m:rPr>
                          <m:nor/>
                        </m:rPr>
                        <a:rPr lang="en-US" sz="2000" b="0" i="1">
                          <a:latin typeface="Cambria Math" panose="02040503050406030204" pitchFamily="18" charset="0"/>
                        </a:rPr>
                        <m:t>  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1,</m:t>
                      </m:r>
                      <m:r>
                        <m:rPr>
                          <m:nor/>
                        </m:rPr>
                        <a:rPr lang="en-US" sz="2000" b="0" i="1">
                          <a:latin typeface="Cambria Math" panose="02040503050406030204" pitchFamily="18" charset="0"/>
                        </a:rPr>
                        <m:t>  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sz="2000" b="0" dirty="0"/>
              </a:p>
              <a:p>
                <a:pPr>
                  <a:buNone/>
                </a:pPr>
                <a:r>
                  <a:rPr lang="en-US" sz="2000" dirty="0"/>
                  <a:t>Near these points:</a:t>
                </a:r>
              </a:p>
              <a:p>
                <a:pPr marL="342900" indent="-342900">
                  <a:buClr>
                    <a:schemeClr val="accent3"/>
                  </a:buClr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solutions may behave differently </a:t>
                </a:r>
              </a:p>
              <a:p>
                <a:pPr marL="342900" indent="-342900">
                  <a:buClr>
                    <a:schemeClr val="accent3"/>
                  </a:buClr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standard methods become difficult </a:t>
                </a:r>
              </a:p>
              <a:p>
                <a:pPr marL="342900" indent="-342900">
                  <a:buClr>
                    <a:schemeClr val="accent3"/>
                  </a:buClr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Frobenius/hypergeometric methods are used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27296E-4CBB-8AA9-B821-9DDF2C055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764" y="2518596"/>
                <a:ext cx="4367491" cy="2554545"/>
              </a:xfrm>
              <a:prstGeom prst="rect">
                <a:avLst/>
              </a:prstGeom>
              <a:blipFill>
                <a:blip r:embed="rId4"/>
                <a:stretch>
                  <a:fillRect l="-1536" t="-955" b="-35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4925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115AF7E6-8C37-8C84-FA1C-8E07A0DD8647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979789" y="1490578"/>
                <a:ext cx="8830965" cy="4375023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Assume a series solution – Frobenius form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N" dirty="0"/>
              </a:p>
              <a:p>
                <a:r>
                  <a:rPr lang="en-US" dirty="0"/>
                  <a:t>Substitution gives indicial roots –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&amp;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endParaRPr lang="en-US" sz="2000" b="1" dirty="0">
                  <a:latin typeface="Cambria Math" panose="02040503050406030204" pitchFamily="18" charset="0"/>
                </a:endParaRPr>
              </a:p>
              <a:p>
                <a:r>
                  <a:rPr lang="en-US" sz="2000" dirty="0">
                    <a:latin typeface="Cambria Math" panose="02040503050406030204" pitchFamily="18" charset="0"/>
                  </a:rPr>
                  <a:t>Recurrence Relation –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  <a:p>
                <a:endParaRPr lang="en-IN" sz="300" dirty="0"/>
              </a:p>
              <a:p>
                <a:r>
                  <a:rPr lang="en-IN" sz="2100" dirty="0"/>
                  <a:t>→ Final Solution: </a:t>
                </a:r>
                <a14:m>
                  <m:oMath xmlns:m="http://schemas.openxmlformats.org/officeDocument/2006/math">
                    <m:r>
                      <a:rPr lang="en-US" sz="2100" b="0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100" b="0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100" b="0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1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100" b="1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sSub>
                      <m:sSubPr>
                        <m:ctrlPr>
                          <a:rPr lang="en-US" sz="21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1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sz="21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ar-AE" sz="2100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100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ar-AE" sz="2100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sz="2100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2100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100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2100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2100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sz="2100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2100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US" sz="2100" b="1" dirty="0"/>
              </a:p>
              <a:p>
                <a:r>
                  <a:rPr lang="en-US" sz="2100" dirty="0"/>
                  <a:t> 	                </a:t>
                </a:r>
                <a14:m>
                  <m:oMath xmlns:m="http://schemas.openxmlformats.org/officeDocument/2006/math">
                    <m:r>
                      <a:rPr lang="en-US" sz="2100" b="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100" b="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100" b="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100" b="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100" b="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1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1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1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1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1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1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1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p>
                    </m:sSup>
                    <m:sSub>
                      <m:sSubPr>
                        <m:ctrlPr>
                          <a:rPr lang="en-US" sz="21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e>
                      <m:sub>
                        <m:r>
                          <a:rPr lang="en-US" sz="21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ar-AE" sz="21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1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ar-AE" sz="21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1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1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1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1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1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1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1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21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1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1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1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1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1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1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1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1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1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1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sz="21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endParaRPr lang="en-IN" sz="20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115AF7E6-8C37-8C84-FA1C-8E07A0DD86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979789" y="1490578"/>
                <a:ext cx="8830965" cy="4375023"/>
              </a:xfrm>
              <a:blipFill>
                <a:blip r:embed="rId2"/>
                <a:stretch>
                  <a:fillRect l="-898" t="-4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0581503B-C80D-99CF-121A-155A212F3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1912" y="522499"/>
            <a:ext cx="2926718" cy="939800"/>
          </a:xfrm>
        </p:spPr>
        <p:txBody>
          <a:bodyPr>
            <a:normAutofit/>
          </a:bodyPr>
          <a:lstStyle/>
          <a:p>
            <a:pPr algn="ctr"/>
            <a:r>
              <a:rPr lang="en-IN" sz="4900" b="1" dirty="0">
                <a:solidFill>
                  <a:schemeClr val="accent3"/>
                </a:solidFill>
                <a:latin typeface="+mj-lt"/>
              </a:rPr>
              <a:t>Derivation</a:t>
            </a:r>
            <a:r>
              <a:rPr lang="en-IN" sz="4700" b="1" dirty="0">
                <a:solidFill>
                  <a:schemeClr val="accent3"/>
                </a:solidFill>
                <a:latin typeface="+mj-lt"/>
              </a:rPr>
              <a:t>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9FE02C1-DC3B-9B20-D1D2-D4EF4CD2C5E1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20</a:t>
            </a:fld>
            <a:endParaRPr lang="en-US" sz="1800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2BEBA5A8-9EE6-84A2-01FA-5ED910405DEA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89517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C8AD-F10F-79BA-DD91-B0085C3E7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231" y="807389"/>
            <a:ext cx="9733538" cy="919665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3"/>
                </a:solidFill>
              </a:rPr>
              <a:t>Hypergeometric Equations Across Physics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0D087CA-A64A-01A3-3CA9-8ABE5B55E7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95007" y="1805126"/>
            <a:ext cx="804440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000" b="1" dirty="0">
                <a:solidFill>
                  <a:schemeClr val="tx1"/>
                </a:solidFill>
              </a:rPr>
              <a:t>Classical Physics </a:t>
            </a:r>
            <a:r>
              <a:rPr lang="en-US" altLang="en-US" sz="2000" dirty="0">
                <a:solidFill>
                  <a:schemeClr val="tx1"/>
                </a:solidFill>
              </a:rPr>
              <a:t>– Laplace's equation in electrostatics leads to Legendre functions.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000" b="1" dirty="0">
                <a:solidFill>
                  <a:schemeClr val="tx1"/>
                </a:solidFill>
              </a:rPr>
              <a:t>Quantum Mechanics </a:t>
            </a:r>
            <a:r>
              <a:rPr lang="en-US" altLang="en-US" sz="2000" dirty="0">
                <a:solidFill>
                  <a:schemeClr val="tx1"/>
                </a:solidFill>
              </a:rPr>
              <a:t>– Hydrogen atom wave equations lead to Laguerre functions.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000" b="1" dirty="0">
                <a:solidFill>
                  <a:schemeClr val="tx1"/>
                </a:solidFill>
              </a:rPr>
              <a:t>Statistical Physics </a:t>
            </a:r>
            <a:r>
              <a:rPr lang="en-US" altLang="en-US" sz="2000" dirty="0">
                <a:solidFill>
                  <a:schemeClr val="tx1"/>
                </a:solidFill>
              </a:rPr>
              <a:t>– Ising model correlation functions involve hypergeometric functions.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000" b="1" dirty="0">
                <a:solidFill>
                  <a:schemeClr val="tx1"/>
                </a:solidFill>
              </a:rPr>
              <a:t>Black Hole Physics </a:t>
            </a:r>
            <a:r>
              <a:rPr lang="en-US" altLang="en-US" sz="2000" dirty="0">
                <a:solidFill>
                  <a:schemeClr val="tx1"/>
                </a:solidFill>
              </a:rPr>
              <a:t>– BTZ black hole radial equations reduce to hypergeometric form.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000" b="1" dirty="0">
                <a:solidFill>
                  <a:schemeClr val="tx1"/>
                </a:solidFill>
              </a:rPr>
              <a:t>Cosmology / Astrophysics </a:t>
            </a:r>
            <a:r>
              <a:rPr lang="en-US" altLang="en-US" sz="2000" dirty="0">
                <a:solidFill>
                  <a:schemeClr val="tx1"/>
                </a:solidFill>
              </a:rPr>
              <a:t>– Inflation perturbation equations can have hypergeometric solutions.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000" b="1" dirty="0">
                <a:solidFill>
                  <a:schemeClr val="tx1"/>
                </a:solidFill>
              </a:rPr>
              <a:t>Condensed Matter Physics </a:t>
            </a:r>
            <a:r>
              <a:rPr lang="en-US" altLang="en-US" sz="2000" dirty="0">
                <a:solidFill>
                  <a:schemeClr val="tx1"/>
                </a:solidFill>
              </a:rPr>
              <a:t>– Graphene electron dynamics can reduce to hypergeometric equations.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B35FB9-8F6B-FDB7-F198-A82C4D60FB59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28F208B-EBA0-C9A3-05E0-BDE72BB05B96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21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73262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40C9177-6E07-6C4C-5812-5709EBE53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685800"/>
            <a:ext cx="8642800" cy="1004888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>
                <a:solidFill>
                  <a:schemeClr val="accent3"/>
                </a:solidFill>
              </a:rPr>
              <a:t>BTZ Black Hole Equation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B0BBD42-1D4F-F8F9-53DD-7E0065E56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600" y="1598879"/>
            <a:ext cx="8642800" cy="909406"/>
          </a:xfrm>
        </p:spPr>
        <p:txBody>
          <a:bodyPr>
            <a:normAutofit/>
          </a:bodyPr>
          <a:lstStyle/>
          <a:p>
            <a:r>
              <a:rPr lang="en-IN" sz="2400" dirty="0"/>
              <a:t>The BTZ Black Hole is a solution to Einstein’s equations in (2+1) dimensions.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86A5A7F-6DDF-D4F0-0BCB-5F231FDB1FD0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22</a:t>
            </a:fld>
            <a:endParaRPr lang="en-US" sz="1800" dirty="0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DD39833B-8198-A841-6EC4-C34FA5A63302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56016D6D-C14F-1CB1-166D-185A9C995FA2}"/>
              </a:ext>
            </a:extLst>
          </p:cNvPr>
          <p:cNvSpPr txBox="1">
            <a:spLocks/>
          </p:cNvSpPr>
          <p:nvPr/>
        </p:nvSpPr>
        <p:spPr>
          <a:xfrm>
            <a:off x="1774599" y="2939497"/>
            <a:ext cx="8642800" cy="4926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000" b="1" dirty="0">
                <a:solidFill>
                  <a:schemeClr val="accent3"/>
                </a:solidFill>
              </a:rPr>
              <a:t>Transformation to Hypergeometric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6">
                <a:extLst>
                  <a:ext uri="{FF2B5EF4-FFF2-40B4-BE49-F238E27FC236}">
                    <a16:creationId xmlns:a16="http://schemas.microsoft.com/office/drawing/2014/main" id="{A76E3682-F923-46EB-D36B-CDCA501BD8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81200" y="3429000"/>
                <a:ext cx="8229599" cy="2546062"/>
              </a:xfrm>
              <a:prstGeom prst="rect">
                <a:avLst/>
              </a:prstGeom>
            </p:spPr>
            <p:txBody>
              <a:bodyPr vert="horz" lIns="91440" tIns="45720" rIns="91440" bIns="45720" rtlCol="0" anchor="t" anchorCtr="0">
                <a:normAutofit lnSpcReduction="10000"/>
              </a:bodyPr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Wingdings 2" panose="05020102010507070707" pitchFamily="18" charset="2"/>
                  <a:buNone/>
                  <a:defRPr sz="18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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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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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200" dirty="0"/>
                  <a:t>In this equation, when we separate variables –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20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IN" sz="2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𝜄</m:t>
                          </m:r>
                          <m:d>
                            <m:dPr>
                              <m:ctrlPr>
                                <a:rPr lang="en-I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IN" sz="2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N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IN" sz="22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sup>
                      </m:sSup>
                      <m:r>
                        <a:rPr lang="en-IN" sz="22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IN" sz="2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2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IN" sz="2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200" dirty="0"/>
              </a:p>
              <a:p>
                <a:r>
                  <a:rPr lang="en-IN" sz="2200" dirty="0"/>
                  <a:t>The radial part changes to </a:t>
                </a:r>
                <a:r>
                  <a:rPr lang="en-IN" sz="2200" b="1" dirty="0"/>
                  <a:t>hypergeometric equation </a:t>
                </a:r>
                <a:r>
                  <a:rPr lang="en-IN" sz="2200" dirty="0"/>
                  <a:t>–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sz="2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f>
                        <m:fPr>
                          <m:ctrlPr>
                            <a:rPr lang="en-US" sz="2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1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en-US" sz="22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num>
                        <m:den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𝒅</m:t>
                          </m:r>
                          <m:sSup>
                            <m:sSupPr>
                              <m:ctrlPr>
                                <a:rPr lang="en-US" sz="2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2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2200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22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sz="22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f>
                        <m:fPr>
                          <m:ctrlPr>
                            <a:rPr lang="en-US" sz="2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US" sz="22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200" b="1" i="1">
                          <a:latin typeface="Cambria Math" panose="02040503050406030204" pitchFamily="18" charset="0"/>
                        </a:rPr>
                        <m:t>𝒂𝒃𝒚</m:t>
                      </m:r>
                      <m:r>
                        <a:rPr lang="en-US" sz="2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200" b="1" dirty="0"/>
              </a:p>
              <a:p>
                <a:r>
                  <a:rPr lang="en-US" sz="2200" dirty="0"/>
                  <a:t>This ODE is a representation of a wave propagation in curved spacetime.</a:t>
                </a:r>
              </a:p>
            </p:txBody>
          </p:sp>
        </mc:Choice>
        <mc:Fallback xmlns="">
          <p:sp>
            <p:nvSpPr>
              <p:cNvPr id="3" name="Content Placeholder 6">
                <a:extLst>
                  <a:ext uri="{FF2B5EF4-FFF2-40B4-BE49-F238E27FC236}">
                    <a16:creationId xmlns:a16="http://schemas.microsoft.com/office/drawing/2014/main" id="{A76E3682-F923-46EB-D36B-CDCA501BD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3429000"/>
                <a:ext cx="8229599" cy="2546062"/>
              </a:xfrm>
              <a:prstGeom prst="rect">
                <a:avLst/>
              </a:prstGeom>
              <a:blipFill>
                <a:blip r:embed="rId3"/>
                <a:stretch>
                  <a:fillRect l="-963" t="-1679" b="-3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7092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C1B5EB-52E1-069E-110A-6315063485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44200" y="1044060"/>
                <a:ext cx="8680624" cy="20080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Singularity lies at –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Physical points or boundaries are considered at –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𝑒𝑣𝑒𝑛𝑡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𝑜𝑟𝑖𝑧𝑜𝑛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𝑝𝑜𝑖𝑛𝑡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𝑛𝑜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𝑟𝑒𝑡𝑢𝑟𝑛</m:t>
                      </m:r>
                    </m:oMath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𝐴𝑑𝑆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𝑏𝑜𝑢𝑛𝑑𝑎𝑟𝑦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𝑣𝑒𝑟𝑦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𝑓𝑎𝑟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𝑎𝑤𝑎𝑦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𝑟𝑒𝑔𝑖𝑜𝑛</m:t>
                      </m:r>
                    </m:oMath>
                  </m:oMathPara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C1B5EB-52E1-069E-110A-6315063485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44200" y="1044060"/>
                <a:ext cx="8680624" cy="2008000"/>
              </a:xfrm>
              <a:blipFill>
                <a:blip r:embed="rId2"/>
                <a:stretch>
                  <a:fillRect l="-913" t="-1818" b="-1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AA1B229-3409-ACD7-8DA6-4AFEA82678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9408832"/>
                  </p:ext>
                </p:extLst>
              </p:nvPr>
            </p:nvGraphicFramePr>
            <p:xfrm>
              <a:off x="1767176" y="3463517"/>
              <a:ext cx="8657648" cy="23432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58365">
                      <a:extLst>
                        <a:ext uri="{9D8B030D-6E8A-4147-A177-3AD203B41FA5}">
                          <a16:colId xmlns:a16="http://schemas.microsoft.com/office/drawing/2014/main" val="2078943726"/>
                        </a:ext>
                      </a:extLst>
                    </a:gridCol>
                    <a:gridCol w="1891862">
                      <a:extLst>
                        <a:ext uri="{9D8B030D-6E8A-4147-A177-3AD203B41FA5}">
                          <a16:colId xmlns:a16="http://schemas.microsoft.com/office/drawing/2014/main" val="4236042234"/>
                        </a:ext>
                      </a:extLst>
                    </a:gridCol>
                    <a:gridCol w="2554014">
                      <a:extLst>
                        <a:ext uri="{9D8B030D-6E8A-4147-A177-3AD203B41FA5}">
                          <a16:colId xmlns:a16="http://schemas.microsoft.com/office/drawing/2014/main" val="3605148057"/>
                        </a:ext>
                      </a:extLst>
                    </a:gridCol>
                    <a:gridCol w="2953407">
                      <a:extLst>
                        <a:ext uri="{9D8B030D-6E8A-4147-A177-3AD203B41FA5}">
                          <a16:colId xmlns:a16="http://schemas.microsoft.com/office/drawing/2014/main" val="2383951338"/>
                        </a:ext>
                      </a:extLst>
                    </a:gridCol>
                  </a:tblGrid>
                  <a:tr h="6059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Position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Type of solution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Mathematical form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Interpretation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6378873"/>
                      </a:ext>
                    </a:extLst>
                  </a:tr>
                  <a:tr h="346693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Regular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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finite, smooth, no divergence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73884523"/>
                      </a:ext>
                    </a:extLst>
                  </a:tr>
                  <a:tr h="346693">
                    <a:tc vMerge="1"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Singular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sSup>
                                  <m:sSup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incoming and outgoing modes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0194532"/>
                      </a:ext>
                    </a:extLst>
                  </a:tr>
                  <a:tr h="346693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Regular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∼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𝑐𝑜𝑛𝑠𝑡𝑎𝑛𝑡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finite, stable at infinity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8977373"/>
                      </a:ext>
                    </a:extLst>
                  </a:tr>
                  <a:tr h="346693">
                    <a:tc vMerge="1"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Singular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∼</m:t>
                                </m:r>
                                <m:sSup>
                                  <m:sSup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how field behaves</a:t>
                          </a:r>
                          <a:r>
                            <a:rPr lang="en-US" b="0" dirty="0"/>
                            <a:t> at large distance</a:t>
                          </a:r>
                          <a:endParaRPr lang="en-IN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0535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AA1B229-3409-ACD7-8DA6-4AFEA82678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9408832"/>
                  </p:ext>
                </p:extLst>
              </p:nvPr>
            </p:nvGraphicFramePr>
            <p:xfrm>
              <a:off x="1767176" y="3463517"/>
              <a:ext cx="8657648" cy="23432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58365">
                      <a:extLst>
                        <a:ext uri="{9D8B030D-6E8A-4147-A177-3AD203B41FA5}">
                          <a16:colId xmlns:a16="http://schemas.microsoft.com/office/drawing/2014/main" val="2078943726"/>
                        </a:ext>
                      </a:extLst>
                    </a:gridCol>
                    <a:gridCol w="1891862">
                      <a:extLst>
                        <a:ext uri="{9D8B030D-6E8A-4147-A177-3AD203B41FA5}">
                          <a16:colId xmlns:a16="http://schemas.microsoft.com/office/drawing/2014/main" val="4236042234"/>
                        </a:ext>
                      </a:extLst>
                    </a:gridCol>
                    <a:gridCol w="2554014">
                      <a:extLst>
                        <a:ext uri="{9D8B030D-6E8A-4147-A177-3AD203B41FA5}">
                          <a16:colId xmlns:a16="http://schemas.microsoft.com/office/drawing/2014/main" val="3605148057"/>
                        </a:ext>
                      </a:extLst>
                    </a:gridCol>
                    <a:gridCol w="2953407">
                      <a:extLst>
                        <a:ext uri="{9D8B030D-6E8A-4147-A177-3AD203B41FA5}">
                          <a16:colId xmlns:a16="http://schemas.microsoft.com/office/drawing/2014/main" val="2383951338"/>
                        </a:ext>
                      </a:extLst>
                    </a:gridCol>
                  </a:tblGrid>
                  <a:tr h="6059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Position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Type of solution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Mathematical form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Interpretation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6378873"/>
                      </a:ext>
                    </a:extLst>
                  </a:tr>
                  <a:tr h="36576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83" t="-84167" r="-588889" b="-150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Regular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3333" t="-168333" r="-116429" b="-4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finite, smooth, no divergence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73884523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Singular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3333" t="-268333" r="-116429" b="-3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incoming and outgoing modes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0194532"/>
                      </a:ext>
                    </a:extLst>
                  </a:tr>
                  <a:tr h="36576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83" t="-133939" r="-588889" b="-96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Regular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3333" t="-368333" r="-116429" b="-2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finite, stable at infinity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8977373"/>
                      </a:ext>
                    </a:extLst>
                  </a:tr>
                  <a:tr h="640080">
                    <a:tc vMerge="1"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Singular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3333" t="-267619" r="-116429" b="-1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how field behaves</a:t>
                          </a:r>
                          <a:r>
                            <a:rPr lang="en-US" b="0" dirty="0"/>
                            <a:t> at large distance</a:t>
                          </a:r>
                          <a:endParaRPr lang="en-IN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053586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F043848-337E-B055-A7D5-FD4CD0C4E537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23</a:t>
            </a:fld>
            <a:endParaRPr lang="en-US" sz="1800" dirty="0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EAD69BD-8BFB-9106-3710-38B87932ABDD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81801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5FF42EA-0E30-283C-5FE6-14196E2C9220}"/>
              </a:ext>
            </a:extLst>
          </p:cNvPr>
          <p:cNvGrpSpPr/>
          <p:nvPr/>
        </p:nvGrpSpPr>
        <p:grpSpPr>
          <a:xfrm>
            <a:off x="1888602" y="4318150"/>
            <a:ext cx="9257817" cy="1079206"/>
            <a:chOff x="1689902" y="1042515"/>
            <a:chExt cx="6882855" cy="10792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89F3A7A-7869-C2BE-DEC3-6D6EB85FED39}"/>
                    </a:ext>
                  </a:extLst>
                </p:cNvPr>
                <p:cNvSpPr txBox="1"/>
                <p:nvPr/>
              </p:nvSpPr>
              <p:spPr>
                <a:xfrm>
                  <a:off x="1782501" y="1504180"/>
                  <a:ext cx="6790256" cy="61754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000" b="0" i="0" smtClean="0">
                            <a:latin typeface="Cambria Math" panose="02040503050406030204" pitchFamily="18" charset="0"/>
                          </a:rPr>
                          <m:t>abR</m:t>
                        </m:r>
                        <m:d>
                          <m:d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000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d>
                        <m:r>
                          <a:rPr lang="en-IN" sz="20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000" b="0" i="0" smtClean="0">
                            <a:latin typeface="Cambria Math" panose="02040503050406030204" pitchFamily="18" charset="0"/>
                          </a:rPr>
                          <m:t>z</m:t>
                        </m:r>
                        <m:d>
                          <m:d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m:rPr>
                                <m:sty m:val="p"/>
                              </m:rPr>
                              <a:rPr lang="en-IN" sz="2000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d>
                        <m:f>
                          <m:f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IN" sz="20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lang="en-IN" sz="20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IN" sz="2000" b="0" i="0" smtClean="0">
                                    <a:latin typeface="Cambria Math" panose="02040503050406030204" pitchFamily="18" charset="0"/>
                                  </a:rPr>
                                  <m:t>dz</m:t>
                                </m:r>
                              </m:e>
                              <m:sup>
                                <m:r>
                                  <a:rPr lang="en-IN" sz="20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000" b="0" i="0" smtClean="0">
                            <a:latin typeface="Cambria Math" panose="02040503050406030204" pitchFamily="18" charset="0"/>
                          </a:rPr>
                          <m:t>R</m:t>
                        </m:r>
                        <m:d>
                          <m:d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000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d>
                        <m:r>
                          <a:rPr lang="en-IN" sz="20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000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en-IN" sz="2000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000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  <m:d>
                              <m:d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000" b="0" i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IN" sz="20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000" b="0" i="0" smtClean="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>
                                  <a:rPr lang="en-IN" sz="2000" b="0" i="0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</m:d>
                        <m:f>
                          <m:f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0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000" b="0" i="0" smtClean="0">
                                <a:latin typeface="Cambria Math" panose="02040503050406030204" pitchFamily="18" charset="0"/>
                              </a:rPr>
                              <m:t>dz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000" b="0" i="0" smtClean="0">
                            <a:latin typeface="Cambria Math" panose="02040503050406030204" pitchFamily="18" charset="0"/>
                          </a:rPr>
                          <m:t>R</m:t>
                        </m:r>
                        <m:d>
                          <m:d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000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d>
                        <m:r>
                          <a:rPr lang="en-IN" sz="2000" b="0" i="0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IN" sz="20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89F3A7A-7869-C2BE-DEC3-6D6EB85FED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2501" y="1504180"/>
                  <a:ext cx="6790256" cy="61754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52409B7-771C-2943-0A19-E7156F318EEC}"/>
                </a:ext>
              </a:extLst>
            </p:cNvPr>
            <p:cNvSpPr txBox="1"/>
            <p:nvPr/>
          </p:nvSpPr>
          <p:spPr>
            <a:xfrm>
              <a:off x="1689902" y="1042515"/>
              <a:ext cx="43134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b="1" dirty="0"/>
                <a:t>BTZ</a:t>
              </a:r>
              <a:r>
                <a:rPr lang="en-IN" sz="2800" dirty="0"/>
                <a:t> </a:t>
              </a:r>
              <a:r>
                <a:rPr lang="en-IN" sz="2800" b="1" dirty="0"/>
                <a:t>Hypergeometric</a:t>
              </a:r>
              <a:r>
                <a:rPr lang="en-IN" sz="2800" dirty="0"/>
                <a:t> </a:t>
              </a:r>
              <a:r>
                <a:rPr lang="en-IN" sz="2800" b="1" dirty="0"/>
                <a:t>Equation – 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965AB8F-B4CC-6BC2-48FD-564694DC79AE}"/>
              </a:ext>
            </a:extLst>
          </p:cNvPr>
          <p:cNvSpPr txBox="1"/>
          <p:nvPr/>
        </p:nvSpPr>
        <p:spPr>
          <a:xfrm>
            <a:off x="1767069" y="1030147"/>
            <a:ext cx="8657863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Results</a:t>
            </a:r>
            <a:br>
              <a:rPr lang="en-IN" sz="4700" b="1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</a:br>
            <a:br>
              <a:rPr lang="en-IN" sz="4700" b="1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</a:br>
            <a:r>
              <a:rPr lang="en-IN" sz="4000" b="1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BTZ equation and solutions </a:t>
            </a:r>
            <a:endParaRPr lang="en-IN" sz="4700" b="1" dirty="0">
              <a:solidFill>
                <a:schemeClr val="accent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04B3A2E-B435-C2A8-D72F-D141C77DA5C3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24</a:t>
            </a:fld>
            <a:endParaRPr lang="en-US" sz="1800" dirty="0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C63FE77A-FAB2-8D0C-00E4-61D61B8AEFCB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803051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8BB72C1-B680-6EDE-0678-61163F946151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25</a:t>
            </a:fld>
            <a:endParaRPr lang="en-US" sz="1800" dirty="0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C1548411-3463-D9D4-5FE4-E4CE847AD913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30887E-A3CD-FFF8-668F-D0785AA41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750" y="1057463"/>
            <a:ext cx="5591955" cy="4477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82B765-06DB-A357-4E10-14D7690941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07705" y="1057463"/>
            <a:ext cx="6368545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7000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CD5C8A3-2337-7725-A962-B445AF5DD32D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26</a:t>
            </a:fld>
            <a:endParaRPr lang="en-US" sz="1800" dirty="0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799F7556-ABB0-857B-947D-40AEC3907EC8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7EEF39-DC4B-6DEE-AD7A-2751CABAB7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857170"/>
            <a:ext cx="12192000" cy="314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8605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AB27A90-EE3E-D258-E245-9CDBD0E5D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07D89BF-70D7-BA59-3860-0ECABF2EBE9F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27</a:t>
            </a:fld>
            <a:endParaRPr lang="en-US" sz="1800" dirty="0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4037DD9E-982A-8203-C8D8-6A2CE73DEDC0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03E790-E4DF-3386-3DE1-2C9A44D07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9361" y="1376076"/>
            <a:ext cx="10593278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2661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2D19E7B-65F0-F215-8A66-CA8B116EF4C6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28</a:t>
            </a:fld>
            <a:endParaRPr lang="en-US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4CEF2E-BDBB-C8E2-32C6-2405E73F3C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046" b="50000"/>
          <a:stretch>
            <a:fillRect/>
          </a:stretch>
        </p:blipFill>
        <p:spPr>
          <a:xfrm>
            <a:off x="6314549" y="342899"/>
            <a:ext cx="4847876" cy="33905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E2C4FC-4EF7-C5F5-803D-B2FC84200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13" b="50000"/>
          <a:stretch>
            <a:fillRect/>
          </a:stretch>
        </p:blipFill>
        <p:spPr>
          <a:xfrm>
            <a:off x="451914" y="3021570"/>
            <a:ext cx="4755892" cy="33905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51558E-7C16-D8AB-44A6-BCF38C0360C0}"/>
                  </a:ext>
                </a:extLst>
              </p:cNvPr>
              <p:cNvSpPr txBox="1"/>
              <p:nvPr/>
            </p:nvSpPr>
            <p:spPr>
              <a:xfrm>
                <a:off x="5736888" y="4083665"/>
                <a:ext cx="6003198" cy="25083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900" b="1" dirty="0"/>
                  <a:t>PINN closely matches the analytical and symbolic solutions near </a:t>
                </a:r>
                <a14:m>
                  <m:oMath xmlns:m="http://schemas.openxmlformats.org/officeDocument/2006/math">
                    <m:r>
                      <a:rPr lang="en-IN" sz="19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19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9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sz="1900" dirty="0"/>
                  <a:t>, showing that the model learned the local behavior correctly. </a:t>
                </a:r>
              </a:p>
              <a:p>
                <a:pPr marL="342900" indent="-342900">
                  <a:buClr>
                    <a:schemeClr val="accent3"/>
                  </a:buClr>
                  <a:buFont typeface="Wingdings" panose="05000000000000000000" pitchFamily="2" charset="2"/>
                  <a:buChar char="§"/>
                </a:pPr>
                <a:r>
                  <a:rPr lang="en-IN" sz="1900" dirty="0"/>
                  <a:t>The singular solution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sz="19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1900" dirty="0"/>
                  <a:t> shows the expected divergence: </a:t>
                </a:r>
              </a:p>
              <a:p>
                <a:pPr marL="171450" indent="-171450">
                  <a:buClr>
                    <a:schemeClr val="accent3"/>
                  </a:buClr>
                  <a:buFont typeface="Wingdings" panose="05000000000000000000" pitchFamily="2" charset="2"/>
                  <a:buChar char="§"/>
                </a:pPr>
                <a:endParaRPr lang="en-IN" sz="1000" i="1" dirty="0">
                  <a:latin typeface="Cambria Math" panose="02040503050406030204" pitchFamily="18" charset="0"/>
                </a:endParaRPr>
              </a:p>
              <a:p>
                <a:pPr>
                  <a:buClr>
                    <a:schemeClr val="accent3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sz="19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ar-AE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9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sz="1900" i="0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ar-AE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9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ar-AE" sz="19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9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19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1900" i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IN" sz="1900" dirty="0"/>
              </a:p>
              <a:p>
                <a:pPr marL="171450" indent="-171450">
                  <a:buClr>
                    <a:schemeClr val="accent3"/>
                  </a:buClr>
                  <a:buFont typeface="Wingdings" panose="05000000000000000000" pitchFamily="2" charset="2"/>
                  <a:buChar char="§"/>
                </a:pPr>
                <a:endParaRPr lang="ar-AE" sz="1200" dirty="0"/>
              </a:p>
              <a:p>
                <a:pPr marL="342900" indent="-342900">
                  <a:buClr>
                    <a:schemeClr val="accent3"/>
                  </a:buClr>
                  <a:buFont typeface="Wingdings" panose="05000000000000000000" pitchFamily="2" charset="2"/>
                  <a:buChar char="§"/>
                </a:pPr>
                <a:r>
                  <a:rPr lang="en-IN" sz="1900" dirty="0"/>
                  <a:t>This confirms that PINN can handle the singular nature of the BTZ hypergeometric equation near </a:t>
                </a:r>
                <a14:m>
                  <m:oMath xmlns:m="http://schemas.openxmlformats.org/officeDocument/2006/math">
                    <m:r>
                      <a:rPr lang="en-IN" sz="19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19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9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sz="190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51558E-7C16-D8AB-44A6-BCF38C036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6888" y="4083665"/>
                <a:ext cx="6003198" cy="2508379"/>
              </a:xfrm>
              <a:prstGeom prst="rect">
                <a:avLst/>
              </a:prstGeom>
              <a:blipFill>
                <a:blip r:embed="rId3"/>
                <a:stretch>
                  <a:fillRect l="-914" t="-1217" b="-21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9A4D6D-972B-EDA2-012B-2763597CDC17}"/>
                  </a:ext>
                </a:extLst>
              </p:cNvPr>
              <p:cNvSpPr txBox="1"/>
              <p:nvPr/>
            </p:nvSpPr>
            <p:spPr>
              <a:xfrm>
                <a:off x="839009" y="1330303"/>
                <a:ext cx="444311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4000" b="1" dirty="0">
                    <a:solidFill>
                      <a:schemeClr val="accent3"/>
                    </a:solidFill>
                    <a:latin typeface="+mj-lt"/>
                    <a:ea typeface="+mj-ea"/>
                    <a:cs typeface="+mj-cs"/>
                  </a:rPr>
                  <a:t>Inference near </a:t>
                </a:r>
                <a14:m>
                  <m:oMath xmlns:m="http://schemas.openxmlformats.org/officeDocument/2006/math">
                    <m:r>
                      <a:rPr lang="en-IN" sz="4000" b="1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𝒛</m:t>
                    </m:r>
                    <m:r>
                      <a:rPr lang="en-IN" sz="4000" b="1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=</m:t>
                    </m:r>
                    <m:r>
                      <a:rPr lang="en-IN" sz="4000" b="1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𝟎</m:t>
                    </m:r>
                  </m:oMath>
                </a14:m>
                <a:endParaRPr lang="en-IN" sz="40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9A4D6D-972B-EDA2-012B-2763597CD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009" y="1330303"/>
                <a:ext cx="4443110" cy="707886"/>
              </a:xfrm>
              <a:prstGeom prst="rect">
                <a:avLst/>
              </a:prstGeom>
              <a:blipFill>
                <a:blip r:embed="rId4"/>
                <a:stretch>
                  <a:fillRect l="-4945" t="-14655" b="-370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14974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7F6903-1B8F-3E17-A412-6760436A5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9F9C74A-C23A-3631-5173-7FCB39921F66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29</a:t>
            </a:fld>
            <a:endParaRPr lang="en-US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BA0E26-25E5-1DFA-A6B0-7B6E5EC7B3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 t="48924"/>
          <a:stretch>
            <a:fillRect/>
          </a:stretch>
        </p:blipFill>
        <p:spPr>
          <a:xfrm>
            <a:off x="682021" y="3088044"/>
            <a:ext cx="4757086" cy="34635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3EB548-AEA1-57A3-EADF-A4CC0BFA7C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924" r="49114"/>
          <a:stretch>
            <a:fillRect/>
          </a:stretch>
        </p:blipFill>
        <p:spPr>
          <a:xfrm>
            <a:off x="6752895" y="342900"/>
            <a:ext cx="4841392" cy="34635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AE9E0E-9B3B-397F-E0FF-59ABE7C72999}"/>
                  </a:ext>
                </a:extLst>
              </p:cNvPr>
              <p:cNvSpPr txBox="1"/>
              <p:nvPr/>
            </p:nvSpPr>
            <p:spPr>
              <a:xfrm>
                <a:off x="839009" y="1330303"/>
                <a:ext cx="444311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4000" b="1" dirty="0">
                    <a:solidFill>
                      <a:schemeClr val="accent3"/>
                    </a:solidFill>
                    <a:latin typeface="+mj-lt"/>
                    <a:ea typeface="+mj-ea"/>
                    <a:cs typeface="+mj-cs"/>
                  </a:rPr>
                  <a:t>Inference near </a:t>
                </a:r>
                <a14:m>
                  <m:oMath xmlns:m="http://schemas.openxmlformats.org/officeDocument/2006/math">
                    <m:r>
                      <a:rPr lang="en-IN" sz="4000" b="1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𝒛</m:t>
                    </m:r>
                    <m:r>
                      <a:rPr lang="en-IN" sz="4000" b="1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=</m:t>
                    </m:r>
                    <m:r>
                      <a:rPr lang="en-IN" sz="4000" b="1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𝟏</m:t>
                    </m:r>
                  </m:oMath>
                </a14:m>
                <a:endParaRPr lang="en-IN" sz="40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AE9E0E-9B3B-397F-E0FF-59ABE7C72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009" y="1330303"/>
                <a:ext cx="4443110" cy="707886"/>
              </a:xfrm>
              <a:prstGeom prst="rect">
                <a:avLst/>
              </a:prstGeom>
              <a:blipFill>
                <a:blip r:embed="rId3"/>
                <a:stretch>
                  <a:fillRect l="-4945" t="-14655" b="-370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E8310E-3B63-F20A-D3A8-3F7E54379C9E}"/>
                  </a:ext>
                </a:extLst>
              </p:cNvPr>
              <p:cNvSpPr txBox="1"/>
              <p:nvPr/>
            </p:nvSpPr>
            <p:spPr>
              <a:xfrm>
                <a:off x="5819768" y="4078810"/>
                <a:ext cx="6094378" cy="26391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/>
                  <a:t>PINN overlaps very well with analytical and symbolic solutions near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dirty="0"/>
                  <a:t>, confirming accurate learning in the second local region. </a:t>
                </a:r>
              </a:p>
              <a:p>
                <a:pPr marL="285750" indent="-285750">
                  <a:buClr>
                    <a:schemeClr val="accent3"/>
                  </a:buClr>
                  <a:buFont typeface="Wingdings" panose="05000000000000000000" pitchFamily="2" charset="2"/>
                  <a:buChar char="§"/>
                </a:pPr>
                <a:r>
                  <a:rPr lang="en-IN" dirty="0"/>
                  <a:t>The branch solution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follows the expected behavior: </a:t>
                </a:r>
              </a:p>
              <a:p>
                <a:endParaRPr lang="en-IN" sz="11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endParaRPr lang="ar-AE" sz="1050" dirty="0"/>
              </a:p>
              <a:p>
                <a:pPr marL="285750" indent="-285750">
                  <a:buClr>
                    <a:schemeClr val="accent3"/>
                  </a:buClr>
                  <a:buFont typeface="Wingdings" panose="05000000000000000000" pitchFamily="2" charset="2"/>
                  <a:buChar char="§"/>
                </a:pPr>
                <a:r>
                  <a:rPr lang="en-IN" dirty="0"/>
                  <a:t>This shows that PINN can also reproduce the correct boundary behavior near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dirty="0"/>
                  <a:t>, where the BTZ equation has another singular point.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E8310E-3B63-F20A-D3A8-3F7E54379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9768" y="4078810"/>
                <a:ext cx="6094378" cy="2639184"/>
              </a:xfrm>
              <a:prstGeom prst="rect">
                <a:avLst/>
              </a:prstGeom>
              <a:blipFill>
                <a:blip r:embed="rId4"/>
                <a:stretch>
                  <a:fillRect l="-901" t="-1155" r="-1502" b="-27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14272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5F05C9E-2C9A-0B3C-1F4F-0E782585A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795" y="595359"/>
            <a:ext cx="6337437" cy="1325563"/>
          </a:xfrm>
        </p:spPr>
        <p:txBody>
          <a:bodyPr/>
          <a:lstStyle/>
          <a:p>
            <a:r>
              <a:rPr lang="en-IN" b="1" dirty="0">
                <a:solidFill>
                  <a:schemeClr val="accent3"/>
                </a:solidFill>
              </a:rPr>
              <a:t>Future Scope: Beyond BTZ</a:t>
            </a:r>
          </a:p>
        </p:txBody>
      </p:sp>
      <p:sp>
        <p:nvSpPr>
          <p:cNvPr id="252" name="Rectangle 246">
            <a:extLst>
              <a:ext uri="{FF2B5EF4-FFF2-40B4-BE49-F238E27FC236}">
                <a16:creationId xmlns:a16="http://schemas.microsoft.com/office/drawing/2014/main" id="{03E681AC-AC57-BE20-844C-C093F3DEBC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84920" y="1981240"/>
            <a:ext cx="8215608" cy="3618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400" dirty="0">
                <a:solidFill>
                  <a:schemeClr val="tx1"/>
                </a:solidFill>
              </a:rPr>
              <a:t>BTZ black hole was used as a benchmark because analytical hypergeometric solutions are known. </a:t>
            </a:r>
          </a:p>
          <a:p>
            <a:pPr marL="457200" marR="0" lvl="0" indent="-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400" dirty="0">
                <a:solidFill>
                  <a:schemeClr val="tx1"/>
                </a:solidFill>
              </a:rPr>
              <a:t>In higher-dimensional black holes like </a:t>
            </a:r>
            <a:r>
              <a:rPr lang="en-US" altLang="en-US" sz="2400" dirty="0" err="1">
                <a:solidFill>
                  <a:schemeClr val="tx1"/>
                </a:solidFill>
              </a:rPr>
              <a:t>AdS</a:t>
            </a:r>
            <a:r>
              <a:rPr lang="en-US" altLang="en-US" sz="2400" dirty="0">
                <a:solidFill>
                  <a:schemeClr val="tx1"/>
                </a:solidFill>
              </a:rPr>
              <a:t>-Schwarzschild black hole (5D), analytical connection formulas are often unavailable. </a:t>
            </a:r>
          </a:p>
          <a:p>
            <a:pPr marL="457200" marR="0" lvl="0" indent="-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400" dirty="0">
                <a:solidFill>
                  <a:schemeClr val="tx1"/>
                </a:solidFill>
              </a:rPr>
              <a:t>Existing studies largely rely on numerical methods for these systems. </a:t>
            </a:r>
          </a:p>
          <a:p>
            <a:pPr marL="457200" marR="0" lvl="0" indent="-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400" dirty="0">
                <a:solidFill>
                  <a:schemeClr val="tx1"/>
                </a:solidFill>
              </a:rPr>
              <a:t>PINNs may help obtain global solutions and infer connection behavior between boundaries.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FEB3B8-1823-677B-DDBB-F377F3EE2872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607C2ED-D7B0-B9C1-CBE0-DDA109EBADCA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30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633996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E98E15-0D00-C056-DB9A-6E53F83879C7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31</a:t>
            </a:fld>
            <a:endParaRPr lang="en-US" sz="1800" dirty="0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E60E119-3D78-E0FC-0BE3-C0E77F625C7E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30C148E-1095-2046-969A-90CB56EB1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543" y="905576"/>
            <a:ext cx="9655668" cy="1013864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accent3"/>
                </a:solidFill>
              </a:rPr>
              <a:t>Conclusion </a:t>
            </a:r>
            <a:endParaRPr lang="en-US" sz="4800" b="1" dirty="0">
              <a:solidFill>
                <a:schemeClr val="accent3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A1BAFB-28F0-92C7-1955-A95E676358B0}"/>
              </a:ext>
            </a:extLst>
          </p:cNvPr>
          <p:cNvSpPr txBox="1"/>
          <p:nvPr/>
        </p:nvSpPr>
        <p:spPr>
          <a:xfrm>
            <a:off x="551965" y="2333805"/>
            <a:ext cx="10951187" cy="3618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Applied machine learning to solve physics-based differential equations </a:t>
            </a:r>
          </a:p>
          <a:p>
            <a:pPr marL="457200" indent="-457200">
              <a:lnSpc>
                <a:spcPct val="120000"/>
              </a:lnSpc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Validated results using </a:t>
            </a:r>
            <a:r>
              <a:rPr lang="en-US" sz="2400" b="1" dirty="0"/>
              <a:t>QHO</a:t>
            </a:r>
            <a:r>
              <a:rPr lang="en-US" sz="2400" dirty="0"/>
              <a:t> and </a:t>
            </a:r>
            <a:r>
              <a:rPr lang="en-US" sz="2400" b="1" dirty="0"/>
              <a:t>DHO</a:t>
            </a:r>
            <a:r>
              <a:rPr lang="en-US" sz="2400" dirty="0"/>
              <a:t> </a:t>
            </a:r>
          </a:p>
          <a:p>
            <a:pPr marL="457200" indent="-457200">
              <a:lnSpc>
                <a:spcPct val="120000"/>
              </a:lnSpc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Enforced physical laws through equations, boundary conditions, and residual minimization </a:t>
            </a:r>
          </a:p>
          <a:p>
            <a:pPr marL="457200" indent="-457200">
              <a:lnSpc>
                <a:spcPct val="120000"/>
              </a:lnSpc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Extended the study to </a:t>
            </a:r>
            <a:r>
              <a:rPr lang="en-US" sz="2400" b="1" dirty="0"/>
              <a:t>singular differential equations</a:t>
            </a:r>
            <a:r>
              <a:rPr lang="en-US" sz="2400" dirty="0"/>
              <a:t> </a:t>
            </a:r>
          </a:p>
          <a:p>
            <a:pPr marL="457200" indent="-457200">
              <a:lnSpc>
                <a:spcPct val="120000"/>
              </a:lnSpc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Transformed the </a:t>
            </a:r>
            <a:r>
              <a:rPr lang="en-US" sz="2400" b="1" dirty="0"/>
              <a:t>BTZ wave equation</a:t>
            </a:r>
            <a:r>
              <a:rPr lang="en-US" sz="2400" dirty="0"/>
              <a:t> into hypergeometric form to study boundary behavior </a:t>
            </a:r>
          </a:p>
          <a:p>
            <a:pPr marL="457200" indent="-457200">
              <a:lnSpc>
                <a:spcPct val="120000"/>
              </a:lnSpc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Demonstrated ML applications in </a:t>
            </a:r>
            <a:r>
              <a:rPr lang="en-US" sz="2400" b="1" dirty="0"/>
              <a:t>quantum, classical and gravitational physics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71427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F880A-80B4-5F3C-B812-BDBB84D10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728" y="2954484"/>
            <a:ext cx="6787623" cy="1323438"/>
          </a:xfrm>
        </p:spPr>
        <p:txBody>
          <a:bodyPr/>
          <a:lstStyle/>
          <a:p>
            <a:r>
              <a:rPr lang="en-IN" sz="8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THANK YOU!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89F34A-5835-5D60-8B73-9EF7D272BEF6}"/>
              </a:ext>
            </a:extLst>
          </p:cNvPr>
          <p:cNvSpPr/>
          <p:nvPr/>
        </p:nvSpPr>
        <p:spPr>
          <a:xfrm>
            <a:off x="2844802" y="2820195"/>
            <a:ext cx="6787623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80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THANK YOU!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624A458-ED6C-8997-4D5E-90F878B6980B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z="1800" smtClean="0"/>
              <a:pPr/>
              <a:t>32</a:t>
            </a:fld>
            <a:endParaRPr lang="en-US" sz="1800" dirty="0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F957BD41-BB83-774C-EE74-541BBFA2FE83}"/>
              </a:ext>
            </a:extLst>
          </p:cNvPr>
          <p:cNvSpPr txBox="1">
            <a:spLocks/>
          </p:cNvSpPr>
          <p:nvPr/>
        </p:nvSpPr>
        <p:spPr>
          <a:xfrm>
            <a:off x="420624" y="6218236"/>
            <a:ext cx="2743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0" dirty="0"/>
          </a:p>
          <a:p>
            <a:pPr algn="ctr"/>
            <a:fld id="{6C14BB3E-4D86-4659-A090-F082B90BB0C2}" type="datetime1">
              <a:rPr lang="en-IN" sz="1600" smtClean="0"/>
              <a:pPr algn="ctr"/>
              <a:t>08-05-2026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42804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Custom 20">
      <a:dk1>
        <a:srgbClr val="000000"/>
      </a:dk1>
      <a:lt1>
        <a:sysClr val="window" lastClr="FFFFFF"/>
      </a:lt1>
      <a:dk2>
        <a:srgbClr val="2C3948"/>
      </a:dk2>
      <a:lt2>
        <a:srgbClr val="F4F4F4"/>
      </a:lt2>
      <a:accent1>
        <a:srgbClr val="F49D90"/>
      </a:accent1>
      <a:accent2>
        <a:srgbClr val="D6947C"/>
      </a:accent2>
      <a:accent3>
        <a:srgbClr val="BF8484"/>
      </a:accent3>
      <a:accent4>
        <a:srgbClr val="96A9AA"/>
      </a:accent4>
      <a:accent5>
        <a:srgbClr val="DD796C"/>
      </a:accent5>
      <a:accent6>
        <a:srgbClr val="D09145"/>
      </a:accent6>
      <a:hlink>
        <a:srgbClr val="DF686A"/>
      </a:hlink>
      <a:folHlink>
        <a:srgbClr val="F93F1C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29436BC-77AE-4AEE-A282-4E162A1CA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B665E41-66EB-401D-940D-8E7024721B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B37DAF-AFAF-4561-A80B-C76198EBD31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4329</TotalTime>
  <Words>2476</Words>
  <Application>Microsoft Office PowerPoint</Application>
  <PresentationFormat>Widescreen</PresentationFormat>
  <Paragraphs>470</Paragraphs>
  <Slides>32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5" baseType="lpstr">
      <vt:lpstr>Arial</vt:lpstr>
      <vt:lpstr>Britannic Bold</vt:lpstr>
      <vt:lpstr>Calibri</vt:lpstr>
      <vt:lpstr>Cambria Math</vt:lpstr>
      <vt:lpstr>Courier New</vt:lpstr>
      <vt:lpstr>Dante</vt:lpstr>
      <vt:lpstr>Dante (Headings)2</vt:lpstr>
      <vt:lpstr>Helvetica Neue Medium</vt:lpstr>
      <vt:lpstr>Symbol</vt:lpstr>
      <vt:lpstr>Times New Roman</vt:lpstr>
      <vt:lpstr>Wingdings</vt:lpstr>
      <vt:lpstr>Wingdings 2</vt:lpstr>
      <vt:lpstr>OffsetVTI</vt:lpstr>
      <vt:lpstr>CP301 Development Engineering Project</vt:lpstr>
      <vt:lpstr>INDEX</vt:lpstr>
      <vt:lpstr>PowerPoint Presentation</vt:lpstr>
      <vt:lpstr>OBJECTIVE</vt:lpstr>
      <vt:lpstr>Second Order Linear Differential Equation (S.O.L.D.E.) </vt:lpstr>
      <vt:lpstr>Neural Network for Differential Equations</vt:lpstr>
      <vt:lpstr>Neural Network Learning Framework</vt:lpstr>
      <vt:lpstr>PowerPoint Presentation</vt:lpstr>
      <vt:lpstr>Quantum  Harmonic  Oscillator</vt:lpstr>
      <vt:lpstr>Numerical method to solve a Q.H.O.</vt:lpstr>
      <vt:lpstr>PINN formulation for Q.H.O.</vt:lpstr>
      <vt:lpstr>PowerPoint Presentation</vt:lpstr>
      <vt:lpstr>PowerPoint Presentation</vt:lpstr>
      <vt:lpstr>PINN v/s Analytical Solution</vt:lpstr>
      <vt:lpstr>Damped Harmonic Oscillator</vt:lpstr>
      <vt:lpstr>Analytical Solution</vt:lpstr>
      <vt:lpstr>PowerPoint Presentation</vt:lpstr>
      <vt:lpstr>Role of Data in PINNs</vt:lpstr>
      <vt:lpstr>Hypergeometric Equation</vt:lpstr>
      <vt:lpstr>Derivation </vt:lpstr>
      <vt:lpstr>Hypergeometric Equations Across Physics</vt:lpstr>
      <vt:lpstr>BTZ Black Hole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Scope: Beyond BTZ</vt:lpstr>
      <vt:lpstr>Conclusion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 Modi</dc:creator>
  <cp:lastModifiedBy>Mohi Modi</cp:lastModifiedBy>
  <cp:revision>489</cp:revision>
  <dcterms:created xsi:type="dcterms:W3CDTF">2026-03-09T04:09:35Z</dcterms:created>
  <dcterms:modified xsi:type="dcterms:W3CDTF">2026-05-08T17:48:57Z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